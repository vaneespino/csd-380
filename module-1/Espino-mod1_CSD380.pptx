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85"/>
    <p:restoredTop sz="92070"/>
  </p:normalViewPr>
  <p:slideViewPr>
    <p:cSldViewPr snapToGrid="0">
      <p:cViewPr varScale="1">
        <p:scale>
          <a:sx n="55" d="100"/>
          <a:sy n="55" d="100"/>
        </p:scale>
        <p:origin x="259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12BED07-6713-92AA-40AF-AE58F4F83C7A}"/>
              </a:ext>
            </a:extLst>
          </p:cNvPr>
          <p:cNvSpPr>
            <a:spLocks noGrp="1"/>
          </p:cNvSpPr>
          <p:nvPr>
            <p:ph type="subTitle" idx="1"/>
          </p:nvPr>
        </p:nvSpPr>
        <p:spPr>
          <a:xfrm>
            <a:off x="1295400" y="4701464"/>
            <a:ext cx="8952782" cy="1204036"/>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4FC9EF77-BF49-E4C1-0FC7-563354777900}"/>
              </a:ext>
            </a:extLst>
          </p:cNvPr>
          <p:cNvSpPr>
            <a:spLocks noGrp="1"/>
          </p:cNvSpPr>
          <p:nvPr>
            <p:ph type="dt" sz="half" idx="10"/>
          </p:nvPr>
        </p:nvSpPr>
        <p:spPr/>
        <p:txBody>
          <a:bodyPr/>
          <a:lstStyle/>
          <a:p>
            <a:fld id="{5DBDDF98-C922-483F-97E9-3E76B0201B42}" type="datetimeFigureOut">
              <a:rPr lang="en-US" smtClean="0"/>
              <a:t>8/14/26</a:t>
            </a:fld>
            <a:endParaRPr lang="en-US"/>
          </a:p>
        </p:txBody>
      </p:sp>
      <p:sp>
        <p:nvSpPr>
          <p:cNvPr id="5" name="Footer Placeholder 4">
            <a:extLst>
              <a:ext uri="{FF2B5EF4-FFF2-40B4-BE49-F238E27FC236}">
                <a16:creationId xmlns:a16="http://schemas.microsoft.com/office/drawing/2014/main" id="{72BD5853-25AA-1C3D-EAD2-496674792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7F0DAD-5850-CAAE-CD25-4D6DDDFF3A18}"/>
              </a:ext>
            </a:extLst>
          </p:cNvPr>
          <p:cNvSpPr>
            <a:spLocks noGrp="1"/>
          </p:cNvSpPr>
          <p:nvPr>
            <p:ph type="sldNum" sz="quarter" idx="12"/>
          </p:nvPr>
        </p:nvSpPr>
        <p:spPr/>
        <p:txBody>
          <a:bodyPr/>
          <a:lstStyle/>
          <a:p>
            <a:fld id="{1B8B3671-A306-4A69-8480-FA9BE839245D}" type="slidenum">
              <a:rPr lang="en-US" smtClean="0"/>
              <a:t>‹#›</a:t>
            </a:fld>
            <a:endParaRPr lang="en-US"/>
          </a:p>
        </p:txBody>
      </p:sp>
      <p:sp>
        <p:nvSpPr>
          <p:cNvPr id="2" name="Title 1">
            <a:extLst>
              <a:ext uri="{FF2B5EF4-FFF2-40B4-BE49-F238E27FC236}">
                <a16:creationId xmlns:a16="http://schemas.microsoft.com/office/drawing/2014/main" id="{534851B1-0B20-9549-0D70-886AA9D04532}"/>
              </a:ext>
            </a:extLst>
          </p:cNvPr>
          <p:cNvSpPr>
            <a:spLocks noGrp="1"/>
          </p:cNvSpPr>
          <p:nvPr>
            <p:ph type="ctrTitle"/>
          </p:nvPr>
        </p:nvSpPr>
        <p:spPr>
          <a:xfrm>
            <a:off x="1295400" y="952500"/>
            <a:ext cx="8952781" cy="3748824"/>
          </a:xfrm>
          <a:noFill/>
        </p:spPr>
        <p:txBody>
          <a:bodyPr anchor="b">
            <a:normAutofit/>
          </a:bodyPr>
          <a:lstStyle>
            <a:lvl1pPr algn="l">
              <a:defRPr sz="3200" spc="530" baseline="0"/>
            </a:lvl1pPr>
          </a:lstStyle>
          <a:p>
            <a:r>
              <a:rPr lang="en-US" dirty="0"/>
              <a:t>Click to edit Master title style</a:t>
            </a:r>
          </a:p>
        </p:txBody>
      </p:sp>
    </p:spTree>
    <p:extLst>
      <p:ext uri="{BB962C8B-B14F-4D97-AF65-F5344CB8AC3E}">
        <p14:creationId xmlns:p14="http://schemas.microsoft.com/office/powerpoint/2010/main" val="3155999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8F26-B5E3-8A90-51FC-8520D1D732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EA4D95-10F3-6212-8302-5610C43E32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281BE7-A53D-441E-0393-0E59412C9117}"/>
              </a:ext>
            </a:extLst>
          </p:cNvPr>
          <p:cNvSpPr>
            <a:spLocks noGrp="1"/>
          </p:cNvSpPr>
          <p:nvPr>
            <p:ph type="dt" sz="half" idx="10"/>
          </p:nvPr>
        </p:nvSpPr>
        <p:spPr/>
        <p:txBody>
          <a:bodyPr/>
          <a:lstStyle/>
          <a:p>
            <a:fld id="{5DBDDF98-C922-483F-97E9-3E76B0201B42}" type="datetimeFigureOut">
              <a:rPr lang="en-US" smtClean="0"/>
              <a:t>8/14/26</a:t>
            </a:fld>
            <a:endParaRPr lang="en-US"/>
          </a:p>
        </p:txBody>
      </p:sp>
      <p:sp>
        <p:nvSpPr>
          <p:cNvPr id="5" name="Footer Placeholder 4">
            <a:extLst>
              <a:ext uri="{FF2B5EF4-FFF2-40B4-BE49-F238E27FC236}">
                <a16:creationId xmlns:a16="http://schemas.microsoft.com/office/drawing/2014/main" id="{0DEF10F0-B23F-BF4B-DB66-9BCF734DB9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65DDEC-13A7-D988-D082-03076F80F1F0}"/>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3892206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0CFA-45ED-71B0-EE3E-CCE6D5C19377}"/>
              </a:ext>
            </a:extLst>
          </p:cNvPr>
          <p:cNvSpPr>
            <a:spLocks noGrp="1"/>
          </p:cNvSpPr>
          <p:nvPr>
            <p:ph type="title"/>
          </p:nvPr>
        </p:nvSpPr>
        <p:spPr>
          <a:xfrm>
            <a:off x="1295400" y="1618211"/>
            <a:ext cx="8412190" cy="3944389"/>
          </a:xfrm>
        </p:spPr>
        <p:txBody>
          <a:bodyPr anchor="t">
            <a:normAutofit/>
          </a:bodyPr>
          <a:lstStyle>
            <a:lvl1pPr>
              <a:defRPr sz="3200"/>
            </a:lvl1pPr>
          </a:lstStyle>
          <a:p>
            <a:r>
              <a:rPr lang="en-US" dirty="0"/>
              <a:t>Click to edit Master title style</a:t>
            </a:r>
          </a:p>
        </p:txBody>
      </p:sp>
      <p:sp>
        <p:nvSpPr>
          <p:cNvPr id="3" name="Text Placeholder 2">
            <a:extLst>
              <a:ext uri="{FF2B5EF4-FFF2-40B4-BE49-F238E27FC236}">
                <a16:creationId xmlns:a16="http://schemas.microsoft.com/office/drawing/2014/main" id="{8F37BECA-A01D-7D7A-F2A6-891EC9D22945}"/>
              </a:ext>
            </a:extLst>
          </p:cNvPr>
          <p:cNvSpPr>
            <a:spLocks noGrp="1"/>
          </p:cNvSpPr>
          <p:nvPr>
            <p:ph type="body" idx="1"/>
          </p:nvPr>
        </p:nvSpPr>
        <p:spPr>
          <a:xfrm>
            <a:off x="1295400" y="908858"/>
            <a:ext cx="8412192" cy="676102"/>
          </a:xfrm>
        </p:spPr>
        <p:txBody>
          <a:bodyPr anchor="b">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86716478-6FAF-D420-0B87-6EABB81E887C}"/>
              </a:ext>
            </a:extLst>
          </p:cNvPr>
          <p:cNvSpPr>
            <a:spLocks noGrp="1"/>
          </p:cNvSpPr>
          <p:nvPr>
            <p:ph type="dt" sz="half" idx="10"/>
          </p:nvPr>
        </p:nvSpPr>
        <p:spPr/>
        <p:txBody>
          <a:bodyPr/>
          <a:lstStyle/>
          <a:p>
            <a:fld id="{5DBDDF98-C922-483F-97E9-3E76B0201B42}" type="datetimeFigureOut">
              <a:rPr lang="en-US" smtClean="0"/>
              <a:t>8/14/26</a:t>
            </a:fld>
            <a:endParaRPr lang="en-US"/>
          </a:p>
        </p:txBody>
      </p:sp>
      <p:sp>
        <p:nvSpPr>
          <p:cNvPr id="5" name="Footer Placeholder 4">
            <a:extLst>
              <a:ext uri="{FF2B5EF4-FFF2-40B4-BE49-F238E27FC236}">
                <a16:creationId xmlns:a16="http://schemas.microsoft.com/office/drawing/2014/main" id="{87C4289B-CB0D-8AFC-7C02-F755C0DCC8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971E4-8A9E-2A30-D7FE-B3505124BB9D}"/>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2546400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7F941-C3A7-545F-8046-C7A9AC8030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BD4277-CFAE-EEF6-3346-61F06D5A3945}"/>
              </a:ext>
            </a:extLst>
          </p:cNvPr>
          <p:cNvSpPr>
            <a:spLocks noGrp="1"/>
          </p:cNvSpPr>
          <p:nvPr>
            <p:ph sz="half" idx="1"/>
          </p:nvPr>
        </p:nvSpPr>
        <p:spPr>
          <a:xfrm>
            <a:off x="1295401" y="2260121"/>
            <a:ext cx="4350026" cy="36568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9543384-699D-84FC-C8B5-7BDE49BB4478}"/>
              </a:ext>
            </a:extLst>
          </p:cNvPr>
          <p:cNvSpPr>
            <a:spLocks noGrp="1"/>
          </p:cNvSpPr>
          <p:nvPr>
            <p:ph sz="half" idx="2"/>
          </p:nvPr>
        </p:nvSpPr>
        <p:spPr>
          <a:xfrm>
            <a:off x="6546574" y="2260120"/>
            <a:ext cx="4350025" cy="365688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0A49386-AFC8-03DA-4563-07B0A0119B1C}"/>
              </a:ext>
            </a:extLst>
          </p:cNvPr>
          <p:cNvSpPr>
            <a:spLocks noGrp="1"/>
          </p:cNvSpPr>
          <p:nvPr>
            <p:ph type="dt" sz="half" idx="10"/>
          </p:nvPr>
        </p:nvSpPr>
        <p:spPr/>
        <p:txBody>
          <a:bodyPr/>
          <a:lstStyle/>
          <a:p>
            <a:fld id="{5DBDDF98-C922-483F-97E9-3E76B0201B42}" type="datetimeFigureOut">
              <a:rPr lang="en-US" smtClean="0"/>
              <a:t>8/14/26</a:t>
            </a:fld>
            <a:endParaRPr lang="en-US"/>
          </a:p>
        </p:txBody>
      </p:sp>
      <p:sp>
        <p:nvSpPr>
          <p:cNvPr id="6" name="Footer Placeholder 5">
            <a:extLst>
              <a:ext uri="{FF2B5EF4-FFF2-40B4-BE49-F238E27FC236}">
                <a16:creationId xmlns:a16="http://schemas.microsoft.com/office/drawing/2014/main" id="{23AED60A-7704-31D9-7D4D-65C635EDF8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6927DA-3B5E-13B8-0BA8-5DCFF001E05E}"/>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948723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7B55A-280B-BDCB-F966-8578DDE741DC}"/>
              </a:ext>
            </a:extLst>
          </p:cNvPr>
          <p:cNvSpPr>
            <a:spLocks noGrp="1"/>
          </p:cNvSpPr>
          <p:nvPr>
            <p:ph type="title"/>
          </p:nvPr>
        </p:nvSpPr>
        <p:spPr>
          <a:xfrm>
            <a:off x="1295400" y="966788"/>
            <a:ext cx="10059988" cy="1051784"/>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0C76EA03-7008-14AB-547B-E66EA4EC968F}"/>
              </a:ext>
            </a:extLst>
          </p:cNvPr>
          <p:cNvSpPr>
            <a:spLocks noGrp="1"/>
          </p:cNvSpPr>
          <p:nvPr>
            <p:ph type="body" idx="1"/>
          </p:nvPr>
        </p:nvSpPr>
        <p:spPr>
          <a:xfrm>
            <a:off x="1295400" y="2018581"/>
            <a:ext cx="4350027" cy="544003"/>
          </a:xfrm>
        </p:spPr>
        <p:txBody>
          <a:bodyPr anchor="b"/>
          <a:lstStyle>
            <a:lvl1pPr marL="0" indent="0">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D629F56-D2C8-71FE-FA59-002819D51856}"/>
              </a:ext>
            </a:extLst>
          </p:cNvPr>
          <p:cNvSpPr>
            <a:spLocks noGrp="1"/>
          </p:cNvSpPr>
          <p:nvPr>
            <p:ph sz="half" idx="2"/>
          </p:nvPr>
        </p:nvSpPr>
        <p:spPr>
          <a:xfrm>
            <a:off x="1295400" y="2774756"/>
            <a:ext cx="4350027" cy="3150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12524D2-CA8D-75F3-D089-C2F0E20D4759}"/>
              </a:ext>
            </a:extLst>
          </p:cNvPr>
          <p:cNvSpPr>
            <a:spLocks noGrp="1"/>
          </p:cNvSpPr>
          <p:nvPr>
            <p:ph type="body" sz="quarter" idx="3"/>
          </p:nvPr>
        </p:nvSpPr>
        <p:spPr>
          <a:xfrm>
            <a:off x="6546572" y="2018581"/>
            <a:ext cx="4350028" cy="544003"/>
          </a:xfrm>
        </p:spPr>
        <p:txBody>
          <a:bodyPr anchor="b"/>
          <a:lstStyle>
            <a:lvl1pPr marL="0" indent="0">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E99B0E3-5AE5-0516-27BF-9F246137FE03}"/>
              </a:ext>
            </a:extLst>
          </p:cNvPr>
          <p:cNvSpPr>
            <a:spLocks noGrp="1"/>
          </p:cNvSpPr>
          <p:nvPr>
            <p:ph sz="quarter" idx="4"/>
          </p:nvPr>
        </p:nvSpPr>
        <p:spPr>
          <a:xfrm>
            <a:off x="6546572" y="2774756"/>
            <a:ext cx="4350028" cy="315079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F7B319A7-6048-4735-B2AC-6D6043F1461A}"/>
              </a:ext>
            </a:extLst>
          </p:cNvPr>
          <p:cNvSpPr>
            <a:spLocks noGrp="1"/>
          </p:cNvSpPr>
          <p:nvPr>
            <p:ph type="dt" sz="half" idx="10"/>
          </p:nvPr>
        </p:nvSpPr>
        <p:spPr/>
        <p:txBody>
          <a:bodyPr/>
          <a:lstStyle/>
          <a:p>
            <a:fld id="{5DBDDF98-C922-483F-97E9-3E76B0201B42}" type="datetimeFigureOut">
              <a:rPr lang="en-US" smtClean="0"/>
              <a:t>8/14/26</a:t>
            </a:fld>
            <a:endParaRPr lang="en-US"/>
          </a:p>
        </p:txBody>
      </p:sp>
      <p:sp>
        <p:nvSpPr>
          <p:cNvPr id="8" name="Footer Placeholder 7">
            <a:extLst>
              <a:ext uri="{FF2B5EF4-FFF2-40B4-BE49-F238E27FC236}">
                <a16:creationId xmlns:a16="http://schemas.microsoft.com/office/drawing/2014/main" id="{6515F875-F23E-D0D2-9115-CD494FDA00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B4F88F-F488-D9D5-CF99-AA1750AAFC39}"/>
              </a:ext>
            </a:extLst>
          </p:cNvPr>
          <p:cNvSpPr>
            <a:spLocks noGrp="1"/>
          </p:cNvSpPr>
          <p:nvPr>
            <p:ph type="sldNum" sz="quarter" idx="12"/>
          </p:nvPr>
        </p:nvSpPr>
        <p:spPr/>
        <p:txBody>
          <a:bodyPr/>
          <a:lstStyle/>
          <a:p>
            <a:fld id="{1B8B3671-A306-4A69-8480-FA9BE839245D}" type="slidenum">
              <a:rPr lang="en-US" smtClean="0"/>
              <a:t>‹#›</a:t>
            </a:fld>
            <a:endParaRPr lang="en-US"/>
          </a:p>
        </p:txBody>
      </p:sp>
      <p:cxnSp>
        <p:nvCxnSpPr>
          <p:cNvPr id="13" name="Straight Connector 12">
            <a:extLst>
              <a:ext uri="{FF2B5EF4-FFF2-40B4-BE49-F238E27FC236}">
                <a16:creationId xmlns:a16="http://schemas.microsoft.com/office/drawing/2014/main" id="{B5094593-EFC2-EEEF-74CD-BD00F4132A94}"/>
              </a:ext>
            </a:extLst>
          </p:cNvPr>
          <p:cNvCxnSpPr>
            <a:cxnSpLocks/>
          </p:cNvCxnSpPr>
          <p:nvPr/>
        </p:nvCxnSpPr>
        <p:spPr>
          <a:xfrm>
            <a:off x="6657975" y="2625552"/>
            <a:ext cx="423862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F851F6D-436C-FA47-8CD1-2C10E735764A}"/>
              </a:ext>
            </a:extLst>
          </p:cNvPr>
          <p:cNvCxnSpPr>
            <a:cxnSpLocks/>
          </p:cNvCxnSpPr>
          <p:nvPr/>
        </p:nvCxnSpPr>
        <p:spPr>
          <a:xfrm>
            <a:off x="1403684" y="2625552"/>
            <a:ext cx="42417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113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91B86-9261-4E82-EF65-30F78154E2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3A5E84-E43B-20AE-E80D-47CB0B07BD7B}"/>
              </a:ext>
            </a:extLst>
          </p:cNvPr>
          <p:cNvSpPr>
            <a:spLocks noGrp="1"/>
          </p:cNvSpPr>
          <p:nvPr>
            <p:ph type="dt" sz="half" idx="10"/>
          </p:nvPr>
        </p:nvSpPr>
        <p:spPr/>
        <p:txBody>
          <a:bodyPr/>
          <a:lstStyle/>
          <a:p>
            <a:fld id="{5DBDDF98-C922-483F-97E9-3E76B0201B42}" type="datetimeFigureOut">
              <a:rPr lang="en-US" smtClean="0"/>
              <a:t>8/14/26</a:t>
            </a:fld>
            <a:endParaRPr lang="en-US"/>
          </a:p>
        </p:txBody>
      </p:sp>
      <p:sp>
        <p:nvSpPr>
          <p:cNvPr id="4" name="Footer Placeholder 3">
            <a:extLst>
              <a:ext uri="{FF2B5EF4-FFF2-40B4-BE49-F238E27FC236}">
                <a16:creationId xmlns:a16="http://schemas.microsoft.com/office/drawing/2014/main" id="{2AFF5797-14F1-9FEB-247C-0E325AF74D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B5D7AF-1489-8F93-4828-0AE784B8BA8F}"/>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3428676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6CAF1C-8901-AE05-E52C-D5B95941055B}"/>
              </a:ext>
            </a:extLst>
          </p:cNvPr>
          <p:cNvSpPr>
            <a:spLocks noGrp="1"/>
          </p:cNvSpPr>
          <p:nvPr>
            <p:ph type="dt" sz="half" idx="10"/>
          </p:nvPr>
        </p:nvSpPr>
        <p:spPr/>
        <p:txBody>
          <a:bodyPr/>
          <a:lstStyle/>
          <a:p>
            <a:fld id="{5DBDDF98-C922-483F-97E9-3E76B0201B42}" type="datetimeFigureOut">
              <a:rPr lang="en-US" smtClean="0"/>
              <a:t>8/14/26</a:t>
            </a:fld>
            <a:endParaRPr lang="en-US"/>
          </a:p>
        </p:txBody>
      </p:sp>
      <p:sp>
        <p:nvSpPr>
          <p:cNvPr id="3" name="Footer Placeholder 2">
            <a:extLst>
              <a:ext uri="{FF2B5EF4-FFF2-40B4-BE49-F238E27FC236}">
                <a16:creationId xmlns:a16="http://schemas.microsoft.com/office/drawing/2014/main" id="{E1CD4F90-2973-4FE2-6C2C-5C2AC5C5A8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D50414B-A7EC-0C14-EFD2-29C5582CC184}"/>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790660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378C7-A764-C5E4-A6A4-DC5B1B3537FB}"/>
              </a:ext>
            </a:extLst>
          </p:cNvPr>
          <p:cNvSpPr>
            <a:spLocks noGrp="1"/>
          </p:cNvSpPr>
          <p:nvPr>
            <p:ph type="title"/>
          </p:nvPr>
        </p:nvSpPr>
        <p:spPr>
          <a:xfrm>
            <a:off x="1306484" y="1306484"/>
            <a:ext cx="3932237" cy="2122516"/>
          </a:xfrm>
        </p:spPr>
        <p:txBody>
          <a:bodyPr anchor="t">
            <a:normAutofit/>
          </a:bodyPr>
          <a:lstStyle>
            <a:lvl1pPr>
              <a:defRPr sz="2400"/>
            </a:lvl1pPr>
          </a:lstStyle>
          <a:p>
            <a:r>
              <a:rPr lang="en-US" dirty="0"/>
              <a:t>Click to edit Master title style</a:t>
            </a:r>
          </a:p>
        </p:txBody>
      </p:sp>
      <p:sp>
        <p:nvSpPr>
          <p:cNvPr id="3" name="Content Placeholder 2">
            <a:extLst>
              <a:ext uri="{FF2B5EF4-FFF2-40B4-BE49-F238E27FC236}">
                <a16:creationId xmlns:a16="http://schemas.microsoft.com/office/drawing/2014/main" id="{27DFE178-4B5D-413B-6583-AB81E8D04180}"/>
              </a:ext>
            </a:extLst>
          </p:cNvPr>
          <p:cNvSpPr>
            <a:spLocks noGrp="1"/>
          </p:cNvSpPr>
          <p:nvPr>
            <p:ph idx="1"/>
          </p:nvPr>
        </p:nvSpPr>
        <p:spPr>
          <a:xfrm>
            <a:off x="6096000" y="1312026"/>
            <a:ext cx="5143500" cy="4565651"/>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8DB92F6D-71AB-9630-9DBE-46041C50C79A}"/>
              </a:ext>
            </a:extLst>
          </p:cNvPr>
          <p:cNvSpPr>
            <a:spLocks noGrp="1"/>
          </p:cNvSpPr>
          <p:nvPr>
            <p:ph type="body" sz="half" idx="2"/>
          </p:nvPr>
        </p:nvSpPr>
        <p:spPr>
          <a:xfrm>
            <a:off x="1306484" y="3428999"/>
            <a:ext cx="3932237" cy="213360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0FEAAD1-C919-6E2E-32D2-E199025FB8F9}"/>
              </a:ext>
            </a:extLst>
          </p:cNvPr>
          <p:cNvSpPr>
            <a:spLocks noGrp="1"/>
          </p:cNvSpPr>
          <p:nvPr>
            <p:ph type="dt" sz="half" idx="10"/>
          </p:nvPr>
        </p:nvSpPr>
        <p:spPr/>
        <p:txBody>
          <a:bodyPr/>
          <a:lstStyle/>
          <a:p>
            <a:fld id="{5DBDDF98-C922-483F-97E9-3E76B0201B42}" type="datetimeFigureOut">
              <a:rPr lang="en-US" smtClean="0"/>
              <a:t>8/14/26</a:t>
            </a:fld>
            <a:endParaRPr lang="en-US"/>
          </a:p>
        </p:txBody>
      </p:sp>
      <p:sp>
        <p:nvSpPr>
          <p:cNvPr id="6" name="Footer Placeholder 5">
            <a:extLst>
              <a:ext uri="{FF2B5EF4-FFF2-40B4-BE49-F238E27FC236}">
                <a16:creationId xmlns:a16="http://schemas.microsoft.com/office/drawing/2014/main" id="{5288B5D8-E15B-BE38-2A89-BD0F02E1A0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7ECC26-B78C-4CBD-6883-97E80D3E5165}"/>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368279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04EAA-30F7-390A-C77C-2E5BD8218BC0}"/>
              </a:ext>
            </a:extLst>
          </p:cNvPr>
          <p:cNvSpPr>
            <a:spLocks noGrp="1"/>
          </p:cNvSpPr>
          <p:nvPr>
            <p:ph type="title"/>
          </p:nvPr>
        </p:nvSpPr>
        <p:spPr>
          <a:xfrm>
            <a:off x="1306484" y="1307185"/>
            <a:ext cx="3932237" cy="2121813"/>
          </a:xfrm>
        </p:spPr>
        <p:txBody>
          <a:bodyPr anchor="t">
            <a:normAutofit/>
          </a:bodyPr>
          <a:lstStyle>
            <a:lvl1pPr>
              <a:defRPr sz="2400"/>
            </a:lvl1pPr>
          </a:lstStyle>
          <a:p>
            <a:r>
              <a:rPr lang="en-US" dirty="0"/>
              <a:t>Click to edit Master title style</a:t>
            </a:r>
          </a:p>
        </p:txBody>
      </p:sp>
      <p:sp>
        <p:nvSpPr>
          <p:cNvPr id="3" name="Picture Placeholder 2">
            <a:extLst>
              <a:ext uri="{FF2B5EF4-FFF2-40B4-BE49-F238E27FC236}">
                <a16:creationId xmlns:a16="http://schemas.microsoft.com/office/drawing/2014/main" id="{513A1C34-81AC-D534-67B1-42721228935F}"/>
              </a:ext>
            </a:extLst>
          </p:cNvPr>
          <p:cNvSpPr>
            <a:spLocks noGrp="1"/>
          </p:cNvSpPr>
          <p:nvPr>
            <p:ph type="pic" idx="1"/>
          </p:nvPr>
        </p:nvSpPr>
        <p:spPr>
          <a:xfrm>
            <a:off x="5857702" y="1307186"/>
            <a:ext cx="5038898" cy="459831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E1012D-3524-26C6-64C1-8CE6E7A9A29B}"/>
              </a:ext>
            </a:extLst>
          </p:cNvPr>
          <p:cNvSpPr>
            <a:spLocks noGrp="1"/>
          </p:cNvSpPr>
          <p:nvPr>
            <p:ph type="body" sz="half" idx="2"/>
          </p:nvPr>
        </p:nvSpPr>
        <p:spPr>
          <a:xfrm>
            <a:off x="1306484" y="3428999"/>
            <a:ext cx="3932237" cy="213360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E8FA6D7-1BE0-F14D-A2F7-4836180BC3B9}"/>
              </a:ext>
            </a:extLst>
          </p:cNvPr>
          <p:cNvSpPr>
            <a:spLocks noGrp="1"/>
          </p:cNvSpPr>
          <p:nvPr>
            <p:ph type="dt" sz="half" idx="10"/>
          </p:nvPr>
        </p:nvSpPr>
        <p:spPr/>
        <p:txBody>
          <a:bodyPr/>
          <a:lstStyle/>
          <a:p>
            <a:fld id="{5DBDDF98-C922-483F-97E9-3E76B0201B42}" type="datetimeFigureOut">
              <a:rPr lang="en-US" smtClean="0"/>
              <a:t>8/14/26</a:t>
            </a:fld>
            <a:endParaRPr lang="en-US"/>
          </a:p>
        </p:txBody>
      </p:sp>
      <p:sp>
        <p:nvSpPr>
          <p:cNvPr id="6" name="Footer Placeholder 5">
            <a:extLst>
              <a:ext uri="{FF2B5EF4-FFF2-40B4-BE49-F238E27FC236}">
                <a16:creationId xmlns:a16="http://schemas.microsoft.com/office/drawing/2014/main" id="{0556B5AC-3F20-FDC1-D579-7C4C6B4ED0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074ACA-1D54-81FA-70B1-31AB3011B3C6}"/>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61469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2C3AB-851A-0D2F-B3AE-5B161CFFC0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89FD6B-3621-3904-7878-A2825C6925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808AE9-D8ED-ED5D-D7B0-A43811777E81}"/>
              </a:ext>
            </a:extLst>
          </p:cNvPr>
          <p:cNvSpPr>
            <a:spLocks noGrp="1"/>
          </p:cNvSpPr>
          <p:nvPr>
            <p:ph type="dt" sz="half" idx="10"/>
          </p:nvPr>
        </p:nvSpPr>
        <p:spPr/>
        <p:txBody>
          <a:bodyPr/>
          <a:lstStyle/>
          <a:p>
            <a:fld id="{5DBDDF98-C922-483F-97E9-3E76B0201B42}" type="datetimeFigureOut">
              <a:rPr lang="en-US" smtClean="0"/>
              <a:t>8/14/26</a:t>
            </a:fld>
            <a:endParaRPr lang="en-US"/>
          </a:p>
        </p:txBody>
      </p:sp>
      <p:sp>
        <p:nvSpPr>
          <p:cNvPr id="5" name="Footer Placeholder 4">
            <a:extLst>
              <a:ext uri="{FF2B5EF4-FFF2-40B4-BE49-F238E27FC236}">
                <a16:creationId xmlns:a16="http://schemas.microsoft.com/office/drawing/2014/main" id="{9A9EF98B-AC81-D122-3D05-9C4E2FE423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9FB543-B138-6627-3714-12105D172AD5}"/>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022373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3DE16D-F1A0-DDB5-A98C-A9055C93D914}"/>
              </a:ext>
            </a:extLst>
          </p:cNvPr>
          <p:cNvSpPr>
            <a:spLocks noGrp="1"/>
          </p:cNvSpPr>
          <p:nvPr>
            <p:ph type="title" orient="vert"/>
          </p:nvPr>
        </p:nvSpPr>
        <p:spPr>
          <a:xfrm>
            <a:off x="9188334" y="952499"/>
            <a:ext cx="2051165" cy="4953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D8A548F-8DA7-C53C-1BFE-7C720CB20FA1}"/>
              </a:ext>
            </a:extLst>
          </p:cNvPr>
          <p:cNvSpPr>
            <a:spLocks noGrp="1"/>
          </p:cNvSpPr>
          <p:nvPr>
            <p:ph type="body" orient="vert" idx="1"/>
          </p:nvPr>
        </p:nvSpPr>
        <p:spPr>
          <a:xfrm>
            <a:off x="952500" y="952499"/>
            <a:ext cx="8235834" cy="49530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12EA2C8-1C90-25D0-8B0A-30B73CFD3EDE}"/>
              </a:ext>
            </a:extLst>
          </p:cNvPr>
          <p:cNvSpPr>
            <a:spLocks noGrp="1"/>
          </p:cNvSpPr>
          <p:nvPr>
            <p:ph type="dt" sz="half" idx="10"/>
          </p:nvPr>
        </p:nvSpPr>
        <p:spPr/>
        <p:txBody>
          <a:bodyPr/>
          <a:lstStyle/>
          <a:p>
            <a:fld id="{5DBDDF98-C922-483F-97E9-3E76B0201B42}" type="datetimeFigureOut">
              <a:rPr lang="en-US" smtClean="0"/>
              <a:t>8/14/26</a:t>
            </a:fld>
            <a:endParaRPr lang="en-US"/>
          </a:p>
        </p:txBody>
      </p:sp>
      <p:sp>
        <p:nvSpPr>
          <p:cNvPr id="5" name="Footer Placeholder 4">
            <a:extLst>
              <a:ext uri="{FF2B5EF4-FFF2-40B4-BE49-F238E27FC236}">
                <a16:creationId xmlns:a16="http://schemas.microsoft.com/office/drawing/2014/main" id="{EA6FF1A4-0404-DA2D-1EA4-828091C04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457155-0F4A-F7B7-C4A8-755572E98C2E}"/>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3968598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792104-6F24-CD50-F55E-22A55084DDC9}"/>
              </a:ext>
            </a:extLst>
          </p:cNvPr>
          <p:cNvSpPr>
            <a:spLocks noGrp="1"/>
          </p:cNvSpPr>
          <p:nvPr>
            <p:ph type="title"/>
          </p:nvPr>
        </p:nvSpPr>
        <p:spPr>
          <a:xfrm>
            <a:off x="1295400" y="842963"/>
            <a:ext cx="9601200" cy="130968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D1059CB-D00E-398D-E4D9-59792FC40A4C}"/>
              </a:ext>
            </a:extLst>
          </p:cNvPr>
          <p:cNvSpPr>
            <a:spLocks noGrp="1"/>
          </p:cNvSpPr>
          <p:nvPr>
            <p:ph type="body" idx="1"/>
          </p:nvPr>
        </p:nvSpPr>
        <p:spPr>
          <a:xfrm>
            <a:off x="1295400" y="2262188"/>
            <a:ext cx="9601200" cy="36433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8DFBC38-D897-7CBE-AC89-A95A2222D7C8}"/>
              </a:ext>
            </a:extLst>
          </p:cNvPr>
          <p:cNvSpPr>
            <a:spLocks noGrp="1"/>
          </p:cNvSpPr>
          <p:nvPr>
            <p:ph type="dt" sz="half" idx="2"/>
          </p:nvPr>
        </p:nvSpPr>
        <p:spPr>
          <a:xfrm>
            <a:off x="847726" y="6199188"/>
            <a:ext cx="2743200" cy="365125"/>
          </a:xfrm>
          <a:prstGeom prst="rect">
            <a:avLst/>
          </a:prstGeom>
        </p:spPr>
        <p:txBody>
          <a:bodyPr vert="horz" lIns="91440" tIns="45720" rIns="91440" bIns="45720" rtlCol="0" anchor="ctr"/>
          <a:lstStyle>
            <a:lvl1pPr algn="l">
              <a:defRPr sz="1050">
                <a:solidFill>
                  <a:schemeClr val="tx1"/>
                </a:solidFill>
                <a:latin typeface="+mj-lt"/>
              </a:defRPr>
            </a:lvl1pPr>
          </a:lstStyle>
          <a:p>
            <a:fld id="{5DBDDF98-C922-483F-97E9-3E76B0201B42}" type="datetimeFigureOut">
              <a:rPr lang="en-US" smtClean="0"/>
              <a:pPr/>
              <a:t>8/14/26</a:t>
            </a:fld>
            <a:endParaRPr lang="en-US"/>
          </a:p>
        </p:txBody>
      </p:sp>
      <p:sp>
        <p:nvSpPr>
          <p:cNvPr id="5" name="Footer Placeholder 4">
            <a:extLst>
              <a:ext uri="{FF2B5EF4-FFF2-40B4-BE49-F238E27FC236}">
                <a16:creationId xmlns:a16="http://schemas.microsoft.com/office/drawing/2014/main" id="{E6728008-2A03-D518-4A75-30816EB0D198}"/>
              </a:ext>
            </a:extLst>
          </p:cNvPr>
          <p:cNvSpPr>
            <a:spLocks noGrp="1"/>
          </p:cNvSpPr>
          <p:nvPr>
            <p:ph type="ftr" sz="quarter" idx="3"/>
          </p:nvPr>
        </p:nvSpPr>
        <p:spPr>
          <a:xfrm>
            <a:off x="7286625" y="6199188"/>
            <a:ext cx="3409951" cy="365125"/>
          </a:xfrm>
          <a:prstGeom prst="rect">
            <a:avLst/>
          </a:prstGeom>
        </p:spPr>
        <p:txBody>
          <a:bodyPr vert="horz" lIns="91440" tIns="45720" rIns="91440" bIns="45720" rtlCol="0" anchor="ctr"/>
          <a:lstStyle>
            <a:lvl1pPr algn="r">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F3691D49-2BD8-1C36-B43A-CF2F9177769B}"/>
              </a:ext>
            </a:extLst>
          </p:cNvPr>
          <p:cNvSpPr>
            <a:spLocks noGrp="1"/>
          </p:cNvSpPr>
          <p:nvPr>
            <p:ph type="sldNum" sz="quarter" idx="4"/>
          </p:nvPr>
        </p:nvSpPr>
        <p:spPr>
          <a:xfrm>
            <a:off x="10728107" y="6199188"/>
            <a:ext cx="619125" cy="365125"/>
          </a:xfrm>
          <a:prstGeom prst="rect">
            <a:avLst/>
          </a:prstGeom>
        </p:spPr>
        <p:txBody>
          <a:bodyPr vert="horz" lIns="91440" tIns="45720" rIns="91440" bIns="45720" rtlCol="0" anchor="ctr"/>
          <a:lstStyle>
            <a:lvl1pPr algn="r">
              <a:defRPr sz="1050">
                <a:solidFill>
                  <a:schemeClr val="tx1"/>
                </a:solidFill>
                <a:latin typeface="+mj-lt"/>
              </a:defRPr>
            </a:lvl1pPr>
          </a:lstStyle>
          <a:p>
            <a:fld id="{1B8B3671-A306-4A69-8480-FA9BE839245D}" type="slidenum">
              <a:rPr lang="en-US" smtClean="0"/>
              <a:pPr/>
              <a:t>‹#›</a:t>
            </a:fld>
            <a:endParaRPr lang="en-US"/>
          </a:p>
        </p:txBody>
      </p:sp>
    </p:spTree>
    <p:extLst>
      <p:ext uri="{BB962C8B-B14F-4D97-AF65-F5344CB8AC3E}">
        <p14:creationId xmlns:p14="http://schemas.microsoft.com/office/powerpoint/2010/main" val="3377233093"/>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9" r:id="rId6"/>
    <p:sldLayoutId id="2147483744" r:id="rId7"/>
    <p:sldLayoutId id="2147483745" r:id="rId8"/>
    <p:sldLayoutId id="2147483746" r:id="rId9"/>
    <p:sldLayoutId id="2147483748" r:id="rId10"/>
    <p:sldLayoutId id="2147483747" r:id="rId11"/>
  </p:sldLayoutIdLst>
  <p:txStyles>
    <p:titleStyle>
      <a:lvl1pPr algn="l" defTabSz="914400" rtl="0" eaLnBrk="1" latinLnBrk="0" hangingPunct="1">
        <a:lnSpc>
          <a:spcPct val="120000"/>
        </a:lnSpc>
        <a:spcBef>
          <a:spcPct val="0"/>
        </a:spcBef>
        <a:buNone/>
        <a:defRPr sz="2800" kern="1200" cap="all" spc="5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75488"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94944"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52144"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lean6sigmahub.com/measure-phase-understanding-the-critical-difference-between-lead-time-and-processing-time/" TargetMode="External"/><Relationship Id="rId2" Type="http://schemas.openxmlformats.org/officeDocument/2006/relationships/hyperlink" Target="https://www.ibm.com/think/topics/value-stream-managemen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0E45B9B-5690-F156-E2ED-D88478B762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7081EE3-B6BE-9584-F5AF-E5F6484DA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F7A7428-1860-A88C-7E4E-F7D933A3478A}"/>
              </a:ext>
            </a:extLst>
          </p:cNvPr>
          <p:cNvPicPr>
            <a:picLocks noChangeAspect="1"/>
          </p:cNvPicPr>
          <p:nvPr/>
        </p:nvPicPr>
        <p:blipFill>
          <a:blip r:embed="rId2">
            <a:alphaModFix amt="50000"/>
          </a:blip>
          <a:srcRect t="29688"/>
          <a:stretch>
            <a:fillRect/>
          </a:stretch>
        </p:blipFill>
        <p:spPr>
          <a:xfrm>
            <a:off x="1" y="10"/>
            <a:ext cx="12191998" cy="6857990"/>
          </a:xfrm>
          <a:prstGeom prst="rect">
            <a:avLst/>
          </a:prstGeom>
        </p:spPr>
      </p:pic>
      <p:sp>
        <p:nvSpPr>
          <p:cNvPr id="2" name="Title 1">
            <a:extLst>
              <a:ext uri="{FF2B5EF4-FFF2-40B4-BE49-F238E27FC236}">
                <a16:creationId xmlns:a16="http://schemas.microsoft.com/office/drawing/2014/main" id="{15AD72DE-925C-D212-14BA-0F03680B5961}"/>
              </a:ext>
            </a:extLst>
          </p:cNvPr>
          <p:cNvSpPr>
            <a:spLocks noGrp="1"/>
          </p:cNvSpPr>
          <p:nvPr>
            <p:ph type="ctrTitle"/>
          </p:nvPr>
        </p:nvSpPr>
        <p:spPr>
          <a:xfrm>
            <a:off x="6537277" y="2398143"/>
            <a:ext cx="4954137" cy="2116348"/>
          </a:xfrm>
          <a:noFill/>
        </p:spPr>
        <p:txBody>
          <a:bodyPr anchor="b">
            <a:normAutofit/>
          </a:bodyPr>
          <a:lstStyle/>
          <a:p>
            <a:pPr algn="r"/>
            <a:r>
              <a:rPr lang="en-US" dirty="0">
                <a:solidFill>
                  <a:srgbClr val="FFFFFF"/>
                </a:solidFill>
              </a:rPr>
              <a:t>Value Stream Management</a:t>
            </a:r>
          </a:p>
        </p:txBody>
      </p:sp>
      <p:sp>
        <p:nvSpPr>
          <p:cNvPr id="3" name="Subtitle 2">
            <a:extLst>
              <a:ext uri="{FF2B5EF4-FFF2-40B4-BE49-F238E27FC236}">
                <a16:creationId xmlns:a16="http://schemas.microsoft.com/office/drawing/2014/main" id="{E2209ED3-AFC8-29BB-E450-00E128412D34}"/>
              </a:ext>
            </a:extLst>
          </p:cNvPr>
          <p:cNvSpPr>
            <a:spLocks noGrp="1"/>
          </p:cNvSpPr>
          <p:nvPr>
            <p:ph type="subTitle" idx="1"/>
          </p:nvPr>
        </p:nvSpPr>
        <p:spPr>
          <a:xfrm>
            <a:off x="6537276" y="4514492"/>
            <a:ext cx="4870953" cy="719424"/>
          </a:xfrm>
          <a:noFill/>
        </p:spPr>
        <p:txBody>
          <a:bodyPr anchor="t">
            <a:normAutofit/>
          </a:bodyPr>
          <a:lstStyle/>
          <a:p>
            <a:pPr algn="r"/>
            <a:r>
              <a:rPr lang="en-US" dirty="0">
                <a:solidFill>
                  <a:srgbClr val="FFFFFF"/>
                </a:solidFill>
              </a:rPr>
              <a:t>Vanessa Espino</a:t>
            </a:r>
          </a:p>
        </p:txBody>
      </p:sp>
      <p:sp>
        <p:nvSpPr>
          <p:cNvPr id="13" name="Freeform: Shape 12">
            <a:extLst>
              <a:ext uri="{FF2B5EF4-FFF2-40B4-BE49-F238E27FC236}">
                <a16:creationId xmlns:a16="http://schemas.microsoft.com/office/drawing/2014/main" id="{41A03FE5-7938-1573-2D18-E168CC7C0A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52500" y="952500"/>
            <a:ext cx="10287000" cy="4953000"/>
          </a:xfrm>
          <a:custGeom>
            <a:avLst/>
            <a:gdLst>
              <a:gd name="connsiteX0" fmla="*/ 0 w 9985794"/>
              <a:gd name="connsiteY0" fmla="*/ 0 h 4920343"/>
              <a:gd name="connsiteX1" fmla="*/ 9985794 w 9985794"/>
              <a:gd name="connsiteY1" fmla="*/ 0 h 4920343"/>
              <a:gd name="connsiteX2" fmla="*/ 9985794 w 9985794"/>
              <a:gd name="connsiteY2" fmla="*/ 4920343 h 4920343"/>
              <a:gd name="connsiteX3" fmla="*/ 0 w 9985794"/>
              <a:gd name="connsiteY3" fmla="*/ 4920343 h 4920343"/>
              <a:gd name="connsiteX4" fmla="*/ 0 w 9985794"/>
              <a:gd name="connsiteY4" fmla="*/ 4119525 h 4920343"/>
              <a:gd name="connsiteX5" fmla="*/ 4905554 w 9985794"/>
              <a:gd name="connsiteY5" fmla="*/ 4119525 h 4920343"/>
              <a:gd name="connsiteX6" fmla="*/ 4905554 w 9985794"/>
              <a:gd name="connsiteY6" fmla="*/ 1451087 h 4920343"/>
              <a:gd name="connsiteX7" fmla="*/ 0 w 9985794"/>
              <a:gd name="connsiteY7" fmla="*/ 1451087 h 4920343"/>
              <a:gd name="connsiteX0" fmla="*/ 4905554 w 9985794"/>
              <a:gd name="connsiteY0" fmla="*/ 4119525 h 4920343"/>
              <a:gd name="connsiteX1" fmla="*/ 4905554 w 9985794"/>
              <a:gd name="connsiteY1" fmla="*/ 1451087 h 4920343"/>
              <a:gd name="connsiteX2" fmla="*/ 0 w 9985794"/>
              <a:gd name="connsiteY2" fmla="*/ 1451087 h 4920343"/>
              <a:gd name="connsiteX3" fmla="*/ 0 w 9985794"/>
              <a:gd name="connsiteY3" fmla="*/ 0 h 4920343"/>
              <a:gd name="connsiteX4" fmla="*/ 9985794 w 9985794"/>
              <a:gd name="connsiteY4" fmla="*/ 0 h 4920343"/>
              <a:gd name="connsiteX5" fmla="*/ 9985794 w 9985794"/>
              <a:gd name="connsiteY5" fmla="*/ 4920343 h 4920343"/>
              <a:gd name="connsiteX6" fmla="*/ 0 w 9985794"/>
              <a:gd name="connsiteY6" fmla="*/ 4920343 h 4920343"/>
              <a:gd name="connsiteX7" fmla="*/ 0 w 9985794"/>
              <a:gd name="connsiteY7" fmla="*/ 4119525 h 4920343"/>
              <a:gd name="connsiteX8" fmla="*/ 4996994 w 9985794"/>
              <a:gd name="connsiteY8" fmla="*/ 4210965 h 4920343"/>
              <a:gd name="connsiteX0" fmla="*/ 4905554 w 9985794"/>
              <a:gd name="connsiteY0" fmla="*/ 4119525 h 4920343"/>
              <a:gd name="connsiteX1" fmla="*/ 4905554 w 9985794"/>
              <a:gd name="connsiteY1" fmla="*/ 1451087 h 4920343"/>
              <a:gd name="connsiteX2" fmla="*/ 0 w 9985794"/>
              <a:gd name="connsiteY2" fmla="*/ 1451087 h 4920343"/>
              <a:gd name="connsiteX3" fmla="*/ 0 w 9985794"/>
              <a:gd name="connsiteY3" fmla="*/ 0 h 4920343"/>
              <a:gd name="connsiteX4" fmla="*/ 9985794 w 9985794"/>
              <a:gd name="connsiteY4" fmla="*/ 0 h 4920343"/>
              <a:gd name="connsiteX5" fmla="*/ 9985794 w 9985794"/>
              <a:gd name="connsiteY5" fmla="*/ 4920343 h 4920343"/>
              <a:gd name="connsiteX6" fmla="*/ 0 w 9985794"/>
              <a:gd name="connsiteY6" fmla="*/ 4920343 h 4920343"/>
              <a:gd name="connsiteX7" fmla="*/ 0 w 9985794"/>
              <a:gd name="connsiteY7" fmla="*/ 4119525 h 4920343"/>
              <a:gd name="connsiteX0" fmla="*/ 4905554 w 9985794"/>
              <a:gd name="connsiteY0" fmla="*/ 1451087 h 4920343"/>
              <a:gd name="connsiteX1" fmla="*/ 0 w 9985794"/>
              <a:gd name="connsiteY1" fmla="*/ 1451087 h 4920343"/>
              <a:gd name="connsiteX2" fmla="*/ 0 w 9985794"/>
              <a:gd name="connsiteY2" fmla="*/ 0 h 4920343"/>
              <a:gd name="connsiteX3" fmla="*/ 9985794 w 9985794"/>
              <a:gd name="connsiteY3" fmla="*/ 0 h 4920343"/>
              <a:gd name="connsiteX4" fmla="*/ 9985794 w 9985794"/>
              <a:gd name="connsiteY4" fmla="*/ 4920343 h 4920343"/>
              <a:gd name="connsiteX5" fmla="*/ 0 w 9985794"/>
              <a:gd name="connsiteY5" fmla="*/ 4920343 h 4920343"/>
              <a:gd name="connsiteX6" fmla="*/ 0 w 9985794"/>
              <a:gd name="connsiteY6" fmla="*/ 4119525 h 4920343"/>
              <a:gd name="connsiteX0" fmla="*/ 0 w 9985794"/>
              <a:gd name="connsiteY0" fmla="*/ 1451087 h 4920343"/>
              <a:gd name="connsiteX1" fmla="*/ 0 w 9985794"/>
              <a:gd name="connsiteY1" fmla="*/ 0 h 4920343"/>
              <a:gd name="connsiteX2" fmla="*/ 9985794 w 9985794"/>
              <a:gd name="connsiteY2" fmla="*/ 0 h 4920343"/>
              <a:gd name="connsiteX3" fmla="*/ 9985794 w 9985794"/>
              <a:gd name="connsiteY3" fmla="*/ 4920343 h 4920343"/>
              <a:gd name="connsiteX4" fmla="*/ 0 w 9985794"/>
              <a:gd name="connsiteY4" fmla="*/ 4920343 h 4920343"/>
              <a:gd name="connsiteX5" fmla="*/ 0 w 9985794"/>
              <a:gd name="connsiteY5" fmla="*/ 4119525 h 4920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85794" h="4920343">
                <a:moveTo>
                  <a:pt x="0" y="1451087"/>
                </a:moveTo>
                <a:lnTo>
                  <a:pt x="0" y="0"/>
                </a:lnTo>
                <a:lnTo>
                  <a:pt x="9985794" y="0"/>
                </a:lnTo>
                <a:lnTo>
                  <a:pt x="9985794" y="4920343"/>
                </a:lnTo>
                <a:lnTo>
                  <a:pt x="0" y="4920343"/>
                </a:lnTo>
                <a:lnTo>
                  <a:pt x="0" y="4119525"/>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167031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6DEBE-208C-E362-290B-7B299354BD15}"/>
              </a:ext>
            </a:extLst>
          </p:cNvPr>
          <p:cNvSpPr>
            <a:spLocks noGrp="1"/>
          </p:cNvSpPr>
          <p:nvPr>
            <p:ph type="title"/>
          </p:nvPr>
        </p:nvSpPr>
        <p:spPr/>
        <p:txBody>
          <a:bodyPr/>
          <a:lstStyle/>
          <a:p>
            <a:r>
              <a:rPr lang="en-US" dirty="0" err="1"/>
              <a:t>VSm</a:t>
            </a:r>
            <a:endParaRPr lang="en-US" dirty="0"/>
          </a:p>
        </p:txBody>
      </p:sp>
      <p:sp>
        <p:nvSpPr>
          <p:cNvPr id="3" name="Content Placeholder 2">
            <a:extLst>
              <a:ext uri="{FF2B5EF4-FFF2-40B4-BE49-F238E27FC236}">
                <a16:creationId xmlns:a16="http://schemas.microsoft.com/office/drawing/2014/main" id="{F12963DA-8119-EB7A-7BB3-7031E9E310EA}"/>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VSM is the business practice of planning, aligning and continually improving the value created during the end-to-end delivery of products and services. Its purpose is to maximize value stream efficiency, reduce time-to-market, enhance product quality and provide greater customer experience. </a:t>
            </a:r>
          </a:p>
          <a:p>
            <a:r>
              <a:rPr lang="en-US" sz="2000" dirty="0">
                <a:latin typeface="Times New Roman" panose="02020603050405020304" pitchFamily="18" charset="0"/>
                <a:cs typeface="Times New Roman" panose="02020603050405020304" pitchFamily="18" charset="0"/>
              </a:rPr>
              <a:t>Value Stream management uses cross-functional teams that break operational silos to give stakeholders visibility and input across business functions, helping them identify bottlenecks and inefficient workflows. </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22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F9A42-7453-1BFF-59EB-CB60D135E787}"/>
              </a:ext>
            </a:extLst>
          </p:cNvPr>
          <p:cNvSpPr>
            <a:spLocks noGrp="1"/>
          </p:cNvSpPr>
          <p:nvPr>
            <p:ph type="title"/>
          </p:nvPr>
        </p:nvSpPr>
        <p:spPr/>
        <p:txBody>
          <a:bodyPr/>
          <a:lstStyle/>
          <a:p>
            <a:r>
              <a:rPr lang="en-US" dirty="0"/>
              <a:t>Benefits</a:t>
            </a:r>
          </a:p>
        </p:txBody>
      </p:sp>
      <p:sp>
        <p:nvSpPr>
          <p:cNvPr id="3" name="Content Placeholder 2">
            <a:extLst>
              <a:ext uri="{FF2B5EF4-FFF2-40B4-BE49-F238E27FC236}">
                <a16:creationId xmlns:a16="http://schemas.microsoft.com/office/drawing/2014/main" id="{EE89EAF2-EA46-6027-B826-A72DDEA9DFC4}"/>
              </a:ext>
            </a:extLst>
          </p:cNvPr>
          <p:cNvSpPr>
            <a:spLocks noGrp="1"/>
          </p:cNvSpPr>
          <p:nvPr>
            <p:ph idx="1"/>
          </p:nvPr>
        </p:nvSpPr>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The benefits of value stream management include:</a:t>
            </a:r>
          </a:p>
          <a:p>
            <a:pPr lvl="1"/>
            <a:r>
              <a:rPr lang="en-US" sz="1800" dirty="0">
                <a:latin typeface="Times New Roman" panose="02020603050405020304" pitchFamily="18" charset="0"/>
                <a:cs typeface="Times New Roman" panose="02020603050405020304" pitchFamily="18" charset="0"/>
              </a:rPr>
              <a:t>Enhanced insights</a:t>
            </a:r>
          </a:p>
          <a:p>
            <a:pPr lvl="1"/>
            <a:r>
              <a:rPr lang="en-US" sz="1800" dirty="0">
                <a:latin typeface="Times New Roman" panose="02020603050405020304" pitchFamily="18" charset="0"/>
                <a:cs typeface="Times New Roman" panose="02020603050405020304" pitchFamily="18" charset="0"/>
              </a:rPr>
              <a:t>Operational efficiency</a:t>
            </a:r>
          </a:p>
          <a:p>
            <a:pPr lvl="1"/>
            <a:r>
              <a:rPr lang="en-US" sz="1800" dirty="0">
                <a:latin typeface="Times New Roman" panose="02020603050405020304" pitchFamily="18" charset="0"/>
                <a:cs typeface="Times New Roman" panose="02020603050405020304" pitchFamily="18" charset="0"/>
              </a:rPr>
              <a:t>Faster delivery</a:t>
            </a:r>
          </a:p>
          <a:p>
            <a:pPr lvl="1"/>
            <a:r>
              <a:rPr lang="en-US" sz="1800" dirty="0">
                <a:latin typeface="Times New Roman" panose="02020603050405020304" pitchFamily="18" charset="0"/>
                <a:cs typeface="Times New Roman" panose="02020603050405020304" pitchFamily="18" charset="0"/>
              </a:rPr>
              <a:t>Improved customer experience</a:t>
            </a:r>
          </a:p>
          <a:p>
            <a:pPr marL="246888" lvl="1" indent="0">
              <a:buNone/>
            </a:pPr>
            <a:endParaRPr lang="en-US" sz="18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6048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12193-031A-DF40-D003-FE24756386EB}"/>
              </a:ext>
            </a:extLst>
          </p:cNvPr>
          <p:cNvSpPr>
            <a:spLocks noGrp="1"/>
          </p:cNvSpPr>
          <p:nvPr>
            <p:ph type="title"/>
          </p:nvPr>
        </p:nvSpPr>
        <p:spPr/>
        <p:txBody>
          <a:bodyPr/>
          <a:lstStyle/>
          <a:p>
            <a:r>
              <a:rPr lang="en-US" dirty="0"/>
              <a:t>Value stream mapping</a:t>
            </a:r>
          </a:p>
        </p:txBody>
      </p:sp>
      <p:sp>
        <p:nvSpPr>
          <p:cNvPr id="3" name="Content Placeholder 2">
            <a:extLst>
              <a:ext uri="{FF2B5EF4-FFF2-40B4-BE49-F238E27FC236}">
                <a16:creationId xmlns:a16="http://schemas.microsoft.com/office/drawing/2014/main" id="{B0232FF4-18FD-29D2-619A-A8A81787DB56}"/>
              </a:ext>
            </a:extLst>
          </p:cNvPr>
          <p:cNvSpPr>
            <a:spLocks noGrp="1"/>
          </p:cNvSpPr>
          <p:nvPr>
            <p:ph idx="1"/>
          </p:nvPr>
        </p:nvSpPr>
        <p:spPr/>
        <p:txBody>
          <a:bodyPr>
            <a:normAutofit fontScale="92500"/>
          </a:bodyPr>
          <a:lstStyle/>
          <a:p>
            <a:r>
              <a:rPr lang="en-US" sz="2000" dirty="0">
                <a:latin typeface="Times New Roman" panose="02020603050405020304" pitchFamily="18" charset="0"/>
                <a:cs typeface="Times New Roman" panose="02020603050405020304" pitchFamily="18" charset="0"/>
              </a:rPr>
              <a:t>Value stream mapping involves charting the path of information, materials and other resources throughout the process of creating and delivering a product. Value stream mapping creates a clear visualization of the sequence of activities required to deliver a product or service. </a:t>
            </a:r>
          </a:p>
          <a:p>
            <a:pPr marL="0" indent="0">
              <a:buNone/>
            </a:pPr>
            <a:r>
              <a:rPr lang="en-US" sz="2000" dirty="0">
                <a:latin typeface="Times New Roman" panose="02020603050405020304" pitchFamily="18" charset="0"/>
                <a:cs typeface="Times New Roman" panose="02020603050405020304" pitchFamily="18" charset="0"/>
              </a:rPr>
              <a:t>A value stream map visually represents essential information:</a:t>
            </a:r>
          </a:p>
          <a:p>
            <a:pPr lvl="1"/>
            <a:r>
              <a:rPr lang="en-US" sz="1800" dirty="0">
                <a:latin typeface="Times New Roman" panose="02020603050405020304" pitchFamily="18" charset="0"/>
                <a:cs typeface="Times New Roman" panose="02020603050405020304" pitchFamily="18" charset="0"/>
              </a:rPr>
              <a:t>Time spent working and waiting at each step</a:t>
            </a:r>
          </a:p>
          <a:p>
            <a:pPr lvl="1"/>
            <a:r>
              <a:rPr lang="en-US" sz="1800" dirty="0">
                <a:latin typeface="Times New Roman" panose="02020603050405020304" pitchFamily="18" charset="0"/>
                <a:cs typeface="Times New Roman" panose="02020603050405020304" pitchFamily="18" charset="0"/>
              </a:rPr>
              <a:t>Labor required for each step</a:t>
            </a:r>
          </a:p>
          <a:p>
            <a:pPr lvl="1"/>
            <a:r>
              <a:rPr lang="en-US" sz="1800" dirty="0">
                <a:latin typeface="Times New Roman" panose="02020603050405020304" pitchFamily="18" charset="0"/>
                <a:cs typeface="Times New Roman" panose="02020603050405020304" pitchFamily="18" charset="0"/>
              </a:rPr>
              <a:t>Error rates at each step</a:t>
            </a:r>
          </a:p>
          <a:p>
            <a:pPr lvl="1"/>
            <a:r>
              <a:rPr lang="en-US" sz="1800" dirty="0">
                <a:latin typeface="Times New Roman" panose="02020603050405020304" pitchFamily="18" charset="0"/>
                <a:cs typeface="Times New Roman" panose="02020603050405020304" pitchFamily="18" charset="0"/>
              </a:rPr>
              <a:t>Downtime experienced along the value stream</a:t>
            </a:r>
          </a:p>
          <a:p>
            <a:pPr lvl="1"/>
            <a:r>
              <a:rPr lang="en-US" sz="1800" dirty="0">
                <a:latin typeface="Times New Roman" panose="02020603050405020304" pitchFamily="18" charset="0"/>
                <a:cs typeface="Times New Roman" panose="02020603050405020304" pitchFamily="18" charset="0"/>
              </a:rPr>
              <a:t>Bottlenecks and process delays at each step</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763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CBF4E-9505-9D56-28FF-9236A0050D8C}"/>
              </a:ext>
            </a:extLst>
          </p:cNvPr>
          <p:cNvSpPr>
            <a:spLocks noGrp="1"/>
          </p:cNvSpPr>
          <p:nvPr>
            <p:ph type="title"/>
          </p:nvPr>
        </p:nvSpPr>
        <p:spPr/>
        <p:txBody>
          <a:bodyPr/>
          <a:lstStyle/>
          <a:p>
            <a:r>
              <a:rPr lang="en-US" dirty="0"/>
              <a:t>Lead time and processing time</a:t>
            </a:r>
          </a:p>
        </p:txBody>
      </p:sp>
      <p:sp>
        <p:nvSpPr>
          <p:cNvPr id="3" name="Content Placeholder 2">
            <a:extLst>
              <a:ext uri="{FF2B5EF4-FFF2-40B4-BE49-F238E27FC236}">
                <a16:creationId xmlns:a16="http://schemas.microsoft.com/office/drawing/2014/main" id="{66FA61CF-6C41-6D4C-60BE-A8612209A450}"/>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Lead time represents the total elapsed time from the moment a customer places an order or a request enters your system until the moment that order is completely fulfilled and delivered</a:t>
            </a:r>
          </a:p>
          <a:p>
            <a:r>
              <a:rPr lang="en-US" sz="2000" dirty="0">
                <a:latin typeface="Times New Roman" panose="02020603050405020304" pitchFamily="18" charset="0"/>
                <a:cs typeface="Times New Roman" panose="02020603050405020304" pitchFamily="18" charset="0"/>
              </a:rPr>
              <a:t>Processing time refers to the actual time spent actively working on a task or product. This is the value-added time where transformation occurs, where raw materials become finished goods, or where information is actively being processed rather than sitting idle</a:t>
            </a:r>
          </a:p>
          <a:p>
            <a:r>
              <a:rPr lang="en-US" sz="2000" dirty="0">
                <a:latin typeface="Times New Roman" panose="02020603050405020304" pitchFamily="18" charset="0"/>
                <a:cs typeface="Times New Roman" panose="02020603050405020304" pitchFamily="18" charset="0"/>
              </a:rPr>
              <a:t>Whereas the lead time clock starts when the request is made and ends when it is fulfilled, the process time clock only starts when we begin work on the customer request-specifically, it omits the time that the work is in queue, waiting to be processed. </a:t>
            </a:r>
          </a:p>
        </p:txBody>
      </p:sp>
    </p:spTree>
    <p:extLst>
      <p:ext uri="{BB962C8B-B14F-4D97-AF65-F5344CB8AC3E}">
        <p14:creationId xmlns:p14="http://schemas.microsoft.com/office/powerpoint/2010/main" val="1295167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1BC4C-87DD-184E-D2FF-47972FA9EF83}"/>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331228D-6AD7-A084-4186-726E8533FB11}"/>
              </a:ext>
            </a:extLst>
          </p:cNvPr>
          <p:cNvPicPr>
            <a:picLocks noGrp="1" noChangeAspect="1"/>
          </p:cNvPicPr>
          <p:nvPr>
            <p:ph idx="1"/>
          </p:nvPr>
        </p:nvPicPr>
        <p:blipFill>
          <a:blip r:embed="rId2"/>
          <a:stretch>
            <a:fillRect/>
          </a:stretch>
        </p:blipFill>
        <p:spPr>
          <a:xfrm>
            <a:off x="1295400" y="645020"/>
            <a:ext cx="9334500" cy="5731721"/>
          </a:xfrm>
          <a:prstGeom prst="rect">
            <a:avLst/>
          </a:prstGeom>
        </p:spPr>
      </p:pic>
    </p:spTree>
    <p:extLst>
      <p:ext uri="{BB962C8B-B14F-4D97-AF65-F5344CB8AC3E}">
        <p14:creationId xmlns:p14="http://schemas.microsoft.com/office/powerpoint/2010/main" val="608745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BC7C3B-7CC4-4037-6525-D8C504566711}"/>
              </a:ext>
            </a:extLst>
          </p:cNvPr>
          <p:cNvSpPr>
            <a:spLocks noGrp="1"/>
          </p:cNvSpPr>
          <p:nvPr>
            <p:ph idx="1"/>
          </p:nvPr>
        </p:nvSpPr>
        <p:spPr>
          <a:xfrm>
            <a:off x="1165860" y="777240"/>
            <a:ext cx="9730740" cy="5128260"/>
          </a:xfrm>
        </p:spPr>
        <p:txBody>
          <a:bodyPr>
            <a:normAutofit/>
          </a:bodyPr>
          <a:lstStyle/>
          <a:p>
            <a:r>
              <a:rPr lang="en-US" sz="2000" dirty="0">
                <a:latin typeface="Times New Roman" panose="02020603050405020304" pitchFamily="18" charset="0"/>
                <a:cs typeface="Times New Roman" panose="02020603050405020304" pitchFamily="18" charset="0"/>
              </a:rPr>
              <a:t>“Many teams and organizations find themselves in situations where deployment lead times months. This is especially common in large, complex organizations that are working with tightly coupled, monolithic systems, often with scarce integration test environments, long test and production environment lead times, high reliance on manual testing, and multiple required approval processes. </a:t>
            </a:r>
          </a:p>
          <a:p>
            <a:r>
              <a:rPr lang="en-US" sz="2000" dirty="0">
                <a:latin typeface="Times New Roman" panose="02020603050405020304" pitchFamily="18" charset="0"/>
                <a:cs typeface="Times New Roman" panose="02020603050405020304" pitchFamily="18" charset="0"/>
              </a:rPr>
              <a:t>When we have long deployment lead times, heroics are required at almost every stage of the value stream. In the DevOps ideal, developers receive fast, constant feedback on their work, enabling them to quickly and independently implement, integrate, and validate their code and have the code deployed into the production environment. </a:t>
            </a:r>
          </a:p>
          <a:p>
            <a:r>
              <a:rPr lang="en-US" sz="2000" dirty="0">
                <a:latin typeface="Times New Roman" panose="02020603050405020304" pitchFamily="18" charset="0"/>
                <a:cs typeface="Times New Roman" panose="02020603050405020304" pitchFamily="18" charset="0"/>
              </a:rPr>
              <a:t>We achieve this by continually checking small code changes into our version control repository, performing automated and exploratory testing against it and deploying it into production.”  -The DevOps Handbook</a:t>
            </a:r>
          </a:p>
        </p:txBody>
      </p:sp>
    </p:spTree>
    <p:extLst>
      <p:ext uri="{BB962C8B-B14F-4D97-AF65-F5344CB8AC3E}">
        <p14:creationId xmlns:p14="http://schemas.microsoft.com/office/powerpoint/2010/main" val="3246198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6C0603-CD3A-B149-D427-60EC916AA71A}"/>
              </a:ext>
            </a:extLst>
          </p:cNvPr>
          <p:cNvSpPr>
            <a:spLocks noGrp="1"/>
          </p:cNvSpPr>
          <p:nvPr>
            <p:ph idx="1"/>
          </p:nvPr>
        </p:nvSpPr>
        <p:spPr>
          <a:xfrm>
            <a:off x="1101969" y="679938"/>
            <a:ext cx="9794631" cy="5225562"/>
          </a:xfrm>
        </p:spPr>
        <p:txBody>
          <a:bodyPr>
            <a:normAutofit/>
          </a:bodyPr>
          <a:lstStyle/>
          <a:p>
            <a:r>
              <a:rPr lang="en-US" sz="2000" dirty="0">
                <a:latin typeface="Times New Roman" panose="02020603050405020304" pitchFamily="18" charset="0"/>
                <a:cs typeface="Times New Roman" panose="02020603050405020304" pitchFamily="18" charset="0"/>
              </a:rPr>
              <a:t>This enables us to have a high degree of confidence that our changes will operate as designed in production and that any problems can be quickly detected and corrected. This is most easily achieved when we have architecture that is modular, well encapsulated, and loosely coupled so that small teams are able to work with high degrees of autonomy, with failures being small and contained, and without causing global disruptions.</a:t>
            </a:r>
          </a:p>
          <a:p>
            <a:r>
              <a:rPr lang="en-US" sz="2000" dirty="0">
                <a:latin typeface="Times New Roman" panose="02020603050405020304" pitchFamily="18" charset="0"/>
                <a:cs typeface="Times New Roman" panose="02020603050405020304" pitchFamily="18" charset="0"/>
              </a:rPr>
              <a:t>In this scenario, our deployment lead time is measured in minutes, or, in the worst case, hours. </a:t>
            </a:r>
          </a:p>
        </p:txBody>
      </p:sp>
      <p:pic>
        <p:nvPicPr>
          <p:cNvPr id="5" name="Picture 4">
            <a:extLst>
              <a:ext uri="{FF2B5EF4-FFF2-40B4-BE49-F238E27FC236}">
                <a16:creationId xmlns:a16="http://schemas.microsoft.com/office/drawing/2014/main" id="{406F7E0E-5940-954E-B5C7-B3B5FD9683C3}"/>
              </a:ext>
            </a:extLst>
          </p:cNvPr>
          <p:cNvPicPr>
            <a:picLocks noChangeAspect="1"/>
          </p:cNvPicPr>
          <p:nvPr/>
        </p:nvPicPr>
        <p:blipFill>
          <a:blip r:embed="rId2"/>
          <a:stretch>
            <a:fillRect/>
          </a:stretch>
        </p:blipFill>
        <p:spPr>
          <a:xfrm>
            <a:off x="2297723" y="3147377"/>
            <a:ext cx="7596554" cy="3710623"/>
          </a:xfrm>
          <a:prstGeom prst="rect">
            <a:avLst/>
          </a:prstGeom>
        </p:spPr>
      </p:pic>
    </p:spTree>
    <p:extLst>
      <p:ext uri="{BB962C8B-B14F-4D97-AF65-F5344CB8AC3E}">
        <p14:creationId xmlns:p14="http://schemas.microsoft.com/office/powerpoint/2010/main" val="4156021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30C18E-7DEA-9AA3-F26C-BFCF35743FE6}"/>
              </a:ext>
            </a:extLst>
          </p:cNvPr>
          <p:cNvSpPr>
            <a:spLocks noGrp="1"/>
          </p:cNvSpPr>
          <p:nvPr>
            <p:ph idx="1"/>
          </p:nvPr>
        </p:nvSpPr>
        <p:spPr>
          <a:xfrm>
            <a:off x="961292" y="726831"/>
            <a:ext cx="9935308" cy="5178669"/>
          </a:xfrm>
        </p:spPr>
        <p:txBody>
          <a:bodyPr>
            <a:normAutofit/>
          </a:bodyPr>
          <a:lstStyle/>
          <a:p>
            <a:r>
              <a:rPr lang="en-US" sz="2000" dirty="0">
                <a:latin typeface="Times New Roman" panose="02020603050405020304" pitchFamily="18" charset="0"/>
                <a:cs typeface="Times New Roman" panose="02020603050405020304" pitchFamily="18" charset="0"/>
              </a:rPr>
              <a:t>There are 2 types of value streams: Operational value streams and development value streams. Operational value streams make up the personnel, workflows, systems and tools needed to deliver a product to a customer. </a:t>
            </a:r>
          </a:p>
          <a:p>
            <a:r>
              <a:rPr lang="en-US" sz="2000" dirty="0">
                <a:latin typeface="Times New Roman" panose="02020603050405020304" pitchFamily="18" charset="0"/>
                <a:cs typeface="Times New Roman" panose="02020603050405020304" pitchFamily="18" charset="0"/>
              </a:rPr>
              <a:t>Modern software development methodologies, such as DevOps, implement many of the same principles of value stream management while combining value streams. </a:t>
            </a:r>
          </a:p>
          <a:p>
            <a:r>
              <a:rPr lang="en-US" sz="2000" dirty="0">
                <a:latin typeface="Times New Roman" panose="02020603050405020304" pitchFamily="18" charset="0"/>
                <a:cs typeface="Times New Roman" panose="02020603050405020304" pitchFamily="18" charset="0"/>
              </a:rPr>
              <a:t>Agile methodologies break down larger projects into smaller phases or sprints. Agile development prioritizes collaboration, continuous improvement and user feedback to make improvements throughout the software development cycle.</a:t>
            </a:r>
          </a:p>
          <a:p>
            <a:r>
              <a:rPr lang="en-US" sz="2000" dirty="0">
                <a:latin typeface="Times New Roman" panose="02020603050405020304" pitchFamily="18" charset="0"/>
                <a:cs typeface="Times New Roman" panose="02020603050405020304" pitchFamily="18" charset="0"/>
              </a:rPr>
              <a:t>Value stream management can work with both methodologies but extends the principles a bit further by incorporating additional teams such as project management teams, marketing teams and customer service teams.</a:t>
            </a:r>
          </a:p>
        </p:txBody>
      </p:sp>
    </p:spTree>
    <p:extLst>
      <p:ext uri="{BB962C8B-B14F-4D97-AF65-F5344CB8AC3E}">
        <p14:creationId xmlns:p14="http://schemas.microsoft.com/office/powerpoint/2010/main" val="2632829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F659C-B67D-8CFC-6F36-2BD4B240438D}"/>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AF8BC159-5ACD-E9D3-44A6-C4DF8B8A926C}"/>
              </a:ext>
            </a:extLst>
          </p:cNvPr>
          <p:cNvSpPr>
            <a:spLocks noGrp="1"/>
          </p:cNvSpPr>
          <p:nvPr>
            <p:ph idx="1"/>
          </p:nvPr>
        </p:nvSpPr>
        <p:spPr/>
        <p:txBody>
          <a:bodyPr/>
          <a:lstStyle/>
          <a:p>
            <a:r>
              <a:rPr lang="en-US" dirty="0">
                <a:hlinkClick r:id="rId2"/>
              </a:rPr>
              <a:t>https://www.ibm.com/think/topics/value-stream-management</a:t>
            </a:r>
            <a:endParaRPr lang="en-US" dirty="0"/>
          </a:p>
          <a:p>
            <a:r>
              <a:rPr lang="en-US" dirty="0">
                <a:hlinkClick r:id="rId3"/>
              </a:rPr>
              <a:t>https://lean6sigmahub.com/measure-phase-understanding-the-critical-difference-between-lead-time-and-processing-time/</a:t>
            </a:r>
            <a:endParaRPr lang="en-US" dirty="0"/>
          </a:p>
          <a:p>
            <a:r>
              <a:rPr lang="en-US" dirty="0"/>
              <a:t>The DevOps Handbook</a:t>
            </a:r>
          </a:p>
        </p:txBody>
      </p:sp>
    </p:spTree>
    <p:extLst>
      <p:ext uri="{BB962C8B-B14F-4D97-AF65-F5344CB8AC3E}">
        <p14:creationId xmlns:p14="http://schemas.microsoft.com/office/powerpoint/2010/main" val="4176370114"/>
      </p:ext>
    </p:extLst>
  </p:cSld>
  <p:clrMapOvr>
    <a:masterClrMapping/>
  </p:clrMapOvr>
</p:sld>
</file>

<file path=ppt/theme/theme1.xml><?xml version="1.0" encoding="utf-8"?>
<a:theme xmlns:a="http://schemas.openxmlformats.org/drawingml/2006/main" name="PoiseVTI">
  <a:themeElements>
    <a:clrScheme name="Poise">
      <a:dk1>
        <a:sysClr val="windowText" lastClr="000000"/>
      </a:dk1>
      <a:lt1>
        <a:sysClr val="window" lastClr="FFFFFF"/>
      </a:lt1>
      <a:dk2>
        <a:srgbClr val="403739"/>
      </a:dk2>
      <a:lt2>
        <a:srgbClr val="F4E9E6"/>
      </a:lt2>
      <a:accent1>
        <a:srgbClr val="B18083"/>
      </a:accent1>
      <a:accent2>
        <a:srgbClr val="C17A69"/>
      </a:accent2>
      <a:accent3>
        <a:srgbClr val="CE9573"/>
      </a:accent3>
      <a:accent4>
        <a:srgbClr val="82907A"/>
      </a:accent4>
      <a:accent5>
        <a:srgbClr val="9A9966"/>
      </a:accent5>
      <a:accent6>
        <a:srgbClr val="AB9955"/>
      </a:accent6>
      <a:hlink>
        <a:srgbClr val="A97979"/>
      </a:hlink>
      <a:folHlink>
        <a:srgbClr val="BB7563"/>
      </a:folHlink>
    </a:clrScheme>
    <a:fontScheme name="Goudy Univers">
      <a:majorFont>
        <a:latin typeface="Goudy Old Style"/>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iseVTI" id="{9843863B-6720-4231-BFE7-E604B355382A}" vid="{6C5B2780-C73E-445D-98DA-9D2BCD78971D}"/>
    </a:ext>
  </a:extLst>
</a:theme>
</file>

<file path=docProps/app.xml><?xml version="1.0" encoding="utf-8"?>
<Properties xmlns="http://schemas.openxmlformats.org/officeDocument/2006/extended-properties" xmlns:vt="http://schemas.openxmlformats.org/officeDocument/2006/docPropsVTypes">
  <Template>Main Event</Template>
  <TotalTime>1473</TotalTime>
  <Words>712</Words>
  <Application>Microsoft Macintosh PowerPoint</Application>
  <PresentationFormat>Widescreen</PresentationFormat>
  <Paragraphs>37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Goudy Old Style</vt:lpstr>
      <vt:lpstr>Times New Roman</vt:lpstr>
      <vt:lpstr>Univers Light</vt:lpstr>
      <vt:lpstr>PoiseVTI</vt:lpstr>
      <vt:lpstr>Value Stream Management</vt:lpstr>
      <vt:lpstr>VSm</vt:lpstr>
      <vt:lpstr>Benefits</vt:lpstr>
      <vt:lpstr>Value stream mapping</vt:lpstr>
      <vt:lpstr>Lead time and processing time</vt:lpstr>
      <vt:lpstr>PowerPoint Presentation</vt:lpstr>
      <vt:lpstr>PowerPoint Presentation</vt:lpstr>
      <vt:lpstr>PowerPoint Presentation</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Vanessa Espino</dc:creator>
  <cp:lastModifiedBy>Vanessa Espino</cp:lastModifiedBy>
  <cp:revision>3</cp:revision>
  <dcterms:created xsi:type="dcterms:W3CDTF">2026-08-15T01:01:27Z</dcterms:created>
  <dcterms:modified xsi:type="dcterms:W3CDTF">2026-08-16T01:34:55Z</dcterms:modified>
</cp:coreProperties>
</file>