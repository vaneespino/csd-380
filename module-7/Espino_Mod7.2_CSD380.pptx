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1"/>
    <p:restoredTop sz="91429"/>
  </p:normalViewPr>
  <p:slideViewPr>
    <p:cSldViewPr snapToGrid="0">
      <p:cViewPr>
        <p:scale>
          <a:sx n="70" d="100"/>
          <a:sy n="70" d="100"/>
        </p:scale>
        <p:origin x="1880"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2326554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4384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3179045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239634785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4219436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3512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A10CCD4D-E5D6-1A42-8308-6E87B4E5F789}"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662732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A10CCD4D-E5D6-1A42-8308-6E87B4E5F789}"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197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5927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074318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60552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0775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A10CCD4D-E5D6-1A42-8308-6E87B4E5F78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7142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626062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687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02080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8055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A10CCD4D-E5D6-1A42-8308-6E87B4E5F78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75438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2836474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0379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416371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09004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05E55338-6A0E-B948-91AF-549A9C284A70}" type="datetimeFigureOut">
              <a:rPr lang="en-US" smtClean="0"/>
              <a:t>9/19/26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2747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4734787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3913833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82500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10CCD4D-E5D6-1A42-8308-6E87B4E5F789}"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2661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05E55338-6A0E-B948-91AF-549A9C284A70}" type="datetimeFigureOut">
              <a:rPr lang="en-US" smtClean="0"/>
              <a:t>9/19/26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A10CCD4D-E5D6-1A42-8308-6E87B4E5F789}" type="slidenum">
              <a:rPr lang="en-US" smtClean="0"/>
              <a:t>‹#›</a:t>
            </a:fld>
            <a:endParaRPr lang="en-US"/>
          </a:p>
        </p:txBody>
      </p:sp>
    </p:spTree>
    <p:extLst>
      <p:ext uri="{BB962C8B-B14F-4D97-AF65-F5344CB8AC3E}">
        <p14:creationId xmlns:p14="http://schemas.microsoft.com/office/powerpoint/2010/main" val="756524760"/>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devops.com/on-call-rotation-best-practices-reducing-burnout-and-improving-response/" TargetMode="External"/><Relationship Id="rId2" Type="http://schemas.openxmlformats.org/officeDocument/2006/relationships/hyperlink" Target="https://sre.google/workbook/on-call/" TargetMode="External"/><Relationship Id="rId1" Type="http://schemas.openxmlformats.org/officeDocument/2006/relationships/slideLayout" Target="../slideLayouts/slideLayout8.xml"/><Relationship Id="rId4" Type="http://schemas.openxmlformats.org/officeDocument/2006/relationships/hyperlink" Target="https://runframe.io/learn/on-call-rot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6E3609B-9D5A-82C0-3B7F-E6854761D9C2}"/>
              </a:ext>
            </a:extLst>
          </p:cNvPr>
          <p:cNvSpPr>
            <a:spLocks noGrp="1"/>
          </p:cNvSpPr>
          <p:nvPr>
            <p:ph type="title"/>
          </p:nvPr>
        </p:nvSpPr>
        <p:spPr>
          <a:xfrm>
            <a:off x="390852" y="3481713"/>
            <a:ext cx="5496426" cy="2092272"/>
          </a:xfrm>
        </p:spPr>
        <p:txBody>
          <a:bodyPr>
            <a:normAutofit fontScale="90000"/>
          </a:bodyPr>
          <a:lstStyle/>
          <a:p>
            <a:r>
              <a:rPr lang="en-US" dirty="0"/>
              <a:t>Pager Rotation in DevOps</a:t>
            </a:r>
          </a:p>
        </p:txBody>
      </p:sp>
      <p:sp>
        <p:nvSpPr>
          <p:cNvPr id="10" name="Picture Placeholder 2">
            <a:extLst>
              <a:ext uri="{FF2B5EF4-FFF2-40B4-BE49-F238E27FC236}">
                <a16:creationId xmlns:a16="http://schemas.microsoft.com/office/drawing/2014/main" id="{EE939621-C6C3-77B2-A028-F6A30970CDE6}"/>
              </a:ext>
            </a:extLst>
          </p:cNvPr>
          <p:cNvSpPr>
            <a:spLocks noGrp="1" noChangeAspect="1"/>
          </p:cNvSpPr>
          <p:nvPr>
            <p:ph type="pic" sz="quarter" idx="14"/>
          </p:nvPr>
        </p:nvSpPr>
        <p:spPr>
          <a:xfrm>
            <a:off x="0" y="0"/>
            <a:ext cx="12192000" cy="2555751"/>
          </a:xfrm>
        </p:spPr>
        <p:txBody>
          <a:bodyPr/>
          <a:lstStyle/>
          <a:p>
            <a:endParaRPr lang="en-US"/>
          </a:p>
        </p:txBody>
      </p:sp>
      <p:sp>
        <p:nvSpPr>
          <p:cNvPr id="12" name="Content Placeholder 3">
            <a:extLst>
              <a:ext uri="{FF2B5EF4-FFF2-40B4-BE49-F238E27FC236}">
                <a16:creationId xmlns:a16="http://schemas.microsoft.com/office/drawing/2014/main" id="{252452FB-2E18-1261-71A0-C524955C7D59}"/>
              </a:ext>
            </a:extLst>
          </p:cNvPr>
          <p:cNvSpPr>
            <a:spLocks noGrp="1"/>
          </p:cNvSpPr>
          <p:nvPr>
            <p:ph sz="quarter" idx="13"/>
          </p:nvPr>
        </p:nvSpPr>
        <p:spPr>
          <a:xfrm>
            <a:off x="7785567" y="3481713"/>
            <a:ext cx="3916103" cy="2765887"/>
          </a:xfrm>
        </p:spPr>
        <p:txBody>
          <a:bodyPr/>
          <a:lstStyle/>
          <a:p>
            <a:pPr marL="0" indent="0">
              <a:buNone/>
            </a:pPr>
            <a:r>
              <a:rPr lang="en-US" dirty="0"/>
              <a:t>Vanessa Espino</a:t>
            </a:r>
          </a:p>
          <a:p>
            <a:pPr marL="0" indent="0">
              <a:buNone/>
            </a:pPr>
            <a:r>
              <a:rPr lang="en-US" dirty="0"/>
              <a:t>Module 7 CSD 380</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53779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D2B971E-3A58-2E72-7799-14F560CE93A3}"/>
              </a:ext>
            </a:extLst>
          </p:cNvPr>
          <p:cNvSpPr>
            <a:spLocks noGrp="1"/>
          </p:cNvSpPr>
          <p:nvPr>
            <p:ph type="title"/>
          </p:nvPr>
        </p:nvSpPr>
        <p:spPr>
          <a:xfrm>
            <a:off x="3406866" y="915483"/>
            <a:ext cx="5378267" cy="985658"/>
          </a:xfrm>
        </p:spPr>
        <p:txBody>
          <a:bodyPr/>
          <a:lstStyle/>
          <a:p>
            <a:r>
              <a:rPr lang="en-US" dirty="0"/>
              <a:t>What is Pager Rotations?</a:t>
            </a:r>
          </a:p>
        </p:txBody>
      </p:sp>
      <p:sp>
        <p:nvSpPr>
          <p:cNvPr id="18" name="Content Placeholder 2">
            <a:extLst>
              <a:ext uri="{FF2B5EF4-FFF2-40B4-BE49-F238E27FC236}">
                <a16:creationId xmlns:a16="http://schemas.microsoft.com/office/drawing/2014/main" id="{0990D15E-E258-0240-FDDD-5DE949884D89}"/>
              </a:ext>
            </a:extLst>
          </p:cNvPr>
          <p:cNvSpPr>
            <a:spLocks noGrp="1"/>
          </p:cNvSpPr>
          <p:nvPr>
            <p:ph idx="1"/>
          </p:nvPr>
        </p:nvSpPr>
        <p:spPr>
          <a:xfrm>
            <a:off x="2020186" y="2317897"/>
            <a:ext cx="6464964" cy="3624619"/>
          </a:xfrm>
        </p:spPr>
        <p:txBody>
          <a:bodyPr>
            <a:normAutofit/>
          </a:bodyPr>
          <a:lstStyle/>
          <a:p>
            <a:r>
              <a:rPr lang="en-US" sz="1800" dirty="0"/>
              <a:t>Pager Rotations in DevOps is when the software developers who write the code are responsible for its production health and operational support.</a:t>
            </a:r>
          </a:p>
          <a:p>
            <a:r>
              <a:rPr lang="en-US" sz="1800" dirty="0"/>
              <a:t>Being on-call means being available during a set period of time and being ready to respond to production incidents  with the appropriate urgency.</a:t>
            </a:r>
          </a:p>
          <a:p>
            <a:r>
              <a:rPr lang="en-US" sz="1800" dirty="0"/>
              <a:t>Site Reliability Engineers (SRE) are often required to take part in on-call rotation to diagnose, mitigate, fix, or escalate incidents if needed.</a:t>
            </a:r>
          </a:p>
        </p:txBody>
      </p:sp>
    </p:spTree>
    <p:extLst>
      <p:ext uri="{BB962C8B-B14F-4D97-AF65-F5344CB8AC3E}">
        <p14:creationId xmlns:p14="http://schemas.microsoft.com/office/powerpoint/2010/main" val="2375284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641C4-AB46-1AE8-8FE9-7D634835E4D2}"/>
              </a:ext>
            </a:extLst>
          </p:cNvPr>
          <p:cNvSpPr>
            <a:spLocks noGrp="1"/>
          </p:cNvSpPr>
          <p:nvPr>
            <p:ph type="title"/>
          </p:nvPr>
        </p:nvSpPr>
        <p:spPr>
          <a:xfrm>
            <a:off x="3406866" y="1082041"/>
            <a:ext cx="5378267" cy="985658"/>
          </a:xfrm>
        </p:spPr>
        <p:txBody>
          <a:bodyPr/>
          <a:lstStyle/>
          <a:p>
            <a:r>
              <a:rPr lang="en-US" dirty="0"/>
              <a:t>“You Build it, You Run it”</a:t>
            </a:r>
          </a:p>
        </p:txBody>
      </p:sp>
      <p:sp>
        <p:nvSpPr>
          <p:cNvPr id="3" name="Content Placeholder 2">
            <a:extLst>
              <a:ext uri="{FF2B5EF4-FFF2-40B4-BE49-F238E27FC236}">
                <a16:creationId xmlns:a16="http://schemas.microsoft.com/office/drawing/2014/main" id="{F51705B1-25B0-3F61-7BB5-A7F89252661C}"/>
              </a:ext>
            </a:extLst>
          </p:cNvPr>
          <p:cNvSpPr>
            <a:spLocks noGrp="1"/>
          </p:cNvSpPr>
          <p:nvPr>
            <p:ph idx="1"/>
          </p:nvPr>
        </p:nvSpPr>
        <p:spPr>
          <a:xfrm>
            <a:off x="3406866" y="2407940"/>
            <a:ext cx="5378268" cy="3662734"/>
          </a:xfrm>
        </p:spPr>
        <p:txBody>
          <a:bodyPr>
            <a:normAutofit/>
          </a:bodyPr>
          <a:lstStyle/>
          <a:p>
            <a:r>
              <a:rPr lang="en-US" sz="1800" dirty="0"/>
              <a:t>In modern DevOp culture, the developers who write the code are also on-call for it to ensure the software is reliable 24/7. This creates a powerful feedback loop:</a:t>
            </a:r>
          </a:p>
          <a:p>
            <a:pPr marL="342900" indent="-342900">
              <a:buFont typeface="+mj-lt"/>
              <a:buAutoNum type="arabicPeriod"/>
            </a:pPr>
            <a:r>
              <a:rPr lang="en-US" sz="1800" dirty="0"/>
              <a:t>Dev ships buggy code</a:t>
            </a:r>
          </a:p>
          <a:p>
            <a:pPr marL="342900" indent="-342900">
              <a:buFont typeface="+mj-lt"/>
              <a:buAutoNum type="arabicPeriod"/>
            </a:pPr>
            <a:r>
              <a:rPr lang="en-US" sz="1800" dirty="0"/>
              <a:t>Dev gets woken up at 3am.</a:t>
            </a:r>
          </a:p>
          <a:p>
            <a:pPr marL="342900" indent="-342900">
              <a:buFont typeface="+mj-lt"/>
              <a:buAutoNum type="arabicPeriod"/>
            </a:pPr>
            <a:r>
              <a:rPr lang="en-US" sz="1800" dirty="0"/>
              <a:t>Dev fixes the bug and adds safeguards, so they sleep next time.</a:t>
            </a:r>
          </a:p>
          <a:p>
            <a:pPr marL="342900" indent="-342900">
              <a:buFont typeface="+mj-lt"/>
              <a:buAutoNum type="arabicPeriod"/>
            </a:pPr>
            <a:r>
              <a:rPr lang="en-US" sz="1800" dirty="0"/>
              <a:t>System reliability improves.</a:t>
            </a:r>
          </a:p>
        </p:txBody>
      </p:sp>
    </p:spTree>
    <p:extLst>
      <p:ext uri="{BB962C8B-B14F-4D97-AF65-F5344CB8AC3E}">
        <p14:creationId xmlns:p14="http://schemas.microsoft.com/office/powerpoint/2010/main" val="53860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4D9847-75A5-34CA-C79F-6B304A34FD7E}"/>
              </a:ext>
            </a:extLst>
          </p:cNvPr>
          <p:cNvSpPr>
            <a:spLocks noGrp="1"/>
          </p:cNvSpPr>
          <p:nvPr>
            <p:ph idx="1"/>
          </p:nvPr>
        </p:nvSpPr>
        <p:spPr>
          <a:xfrm>
            <a:off x="2890828" y="1828800"/>
            <a:ext cx="6410343" cy="3994774"/>
          </a:xfrm>
        </p:spPr>
        <p:txBody>
          <a:bodyPr>
            <a:normAutofit fontScale="70000" lnSpcReduction="20000"/>
          </a:bodyPr>
          <a:lstStyle/>
          <a:p>
            <a:r>
              <a:rPr lang="en-US" sz="2600" dirty="0"/>
              <a:t>By having everyone in the value stream share the downstream responsibilities of handling operational incidents such as the developers, development managers, and architects on pager rotation, it ensures everyone in the value stream gets visceral feedback on any upstream architectural and coding decisions they make.</a:t>
            </a:r>
          </a:p>
          <a:p>
            <a:r>
              <a:rPr lang="en-US" sz="2600" dirty="0"/>
              <a:t>This practice helps Development management see that business goals are not achieved simply because features are marked “done” but instead the feature is only done when it is performing as designed in production, without causing excessive escalations or unplanned work for either Development or Operations.</a:t>
            </a:r>
          </a:p>
          <a:p>
            <a:endParaRPr lang="en-US" dirty="0"/>
          </a:p>
        </p:txBody>
      </p:sp>
    </p:spTree>
    <p:extLst>
      <p:ext uri="{BB962C8B-B14F-4D97-AF65-F5344CB8AC3E}">
        <p14:creationId xmlns:p14="http://schemas.microsoft.com/office/powerpoint/2010/main" val="3814732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F8D72-86B5-19E8-2A3C-541A00EA1018}"/>
              </a:ext>
            </a:extLst>
          </p:cNvPr>
          <p:cNvSpPr>
            <a:spLocks noGrp="1"/>
          </p:cNvSpPr>
          <p:nvPr>
            <p:ph idx="1"/>
          </p:nvPr>
        </p:nvSpPr>
        <p:spPr>
          <a:xfrm>
            <a:off x="3022818" y="2267712"/>
            <a:ext cx="6688110" cy="3830182"/>
          </a:xfrm>
        </p:spPr>
        <p:txBody>
          <a:bodyPr>
            <a:normAutofit lnSpcReduction="10000"/>
          </a:bodyPr>
          <a:lstStyle/>
          <a:p>
            <a:r>
              <a:rPr lang="en-US" sz="1800" dirty="0"/>
              <a:t>One of the most powerful techniques in interaction and user experience design (UX) is contextual inquiry. This is when the product team watches a customer use the application in their natural environment. </a:t>
            </a:r>
          </a:p>
          <a:p>
            <a:r>
              <a:rPr lang="en-US" sz="1800" dirty="0"/>
              <a:t>UX design enables the creation of quality at the source and results in far greater empathy for fellow team members in the value stream. </a:t>
            </a:r>
          </a:p>
          <a:p>
            <a:r>
              <a:rPr lang="en-US" sz="1800" dirty="0"/>
              <a:t>UX design helps to create codified non-functional requirements to add to the shared backlog of work, which allows to proactively integrate them into every service built, which is an important part of creating a DevOps work culture. </a:t>
            </a:r>
          </a:p>
        </p:txBody>
      </p:sp>
    </p:spTree>
    <p:extLst>
      <p:ext uri="{BB962C8B-B14F-4D97-AF65-F5344CB8AC3E}">
        <p14:creationId xmlns:p14="http://schemas.microsoft.com/office/powerpoint/2010/main" val="407118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B8357-1C02-BFCB-4D41-7977EED33BBE}"/>
              </a:ext>
            </a:extLst>
          </p:cNvPr>
          <p:cNvSpPr>
            <a:spLocks noGrp="1"/>
          </p:cNvSpPr>
          <p:nvPr>
            <p:ph type="title"/>
          </p:nvPr>
        </p:nvSpPr>
        <p:spPr>
          <a:xfrm>
            <a:off x="3406866" y="1313566"/>
            <a:ext cx="5378267" cy="985658"/>
          </a:xfrm>
        </p:spPr>
        <p:txBody>
          <a:bodyPr/>
          <a:lstStyle/>
          <a:p>
            <a:r>
              <a:rPr lang="en-US" dirty="0"/>
              <a:t>On-Call Practices</a:t>
            </a:r>
          </a:p>
        </p:txBody>
      </p:sp>
      <p:sp>
        <p:nvSpPr>
          <p:cNvPr id="3" name="Content Placeholder 2">
            <a:extLst>
              <a:ext uri="{FF2B5EF4-FFF2-40B4-BE49-F238E27FC236}">
                <a16:creationId xmlns:a16="http://schemas.microsoft.com/office/drawing/2014/main" id="{84613DBD-CFA0-C0B6-1708-583B4A1DE461}"/>
              </a:ext>
            </a:extLst>
          </p:cNvPr>
          <p:cNvSpPr>
            <a:spLocks noGrp="1"/>
          </p:cNvSpPr>
          <p:nvPr>
            <p:ph idx="1"/>
          </p:nvPr>
        </p:nvSpPr>
        <p:spPr>
          <a:xfrm>
            <a:off x="2700129" y="2399808"/>
            <a:ext cx="6791741" cy="3694246"/>
          </a:xfrm>
        </p:spPr>
        <p:txBody>
          <a:bodyPr>
            <a:normAutofit/>
          </a:bodyPr>
          <a:lstStyle/>
          <a:p>
            <a:r>
              <a:rPr lang="en-US" sz="1800" dirty="0"/>
              <a:t>There is no universal on-call rotation. Choosing the right model depends on your team size, geographic footprint and service criticality. The most common ones are:</a:t>
            </a:r>
          </a:p>
          <a:p>
            <a:pPr marL="342900" indent="-342900">
              <a:buFont typeface="+mj-lt"/>
              <a:buAutoNum type="arabicPeriod"/>
            </a:pPr>
            <a:r>
              <a:rPr lang="en-US" sz="1800" dirty="0"/>
              <a:t>Weekly Rotational Schedules: </a:t>
            </a:r>
            <a:r>
              <a:rPr lang="en-US" sz="1600" dirty="0"/>
              <a:t>works well for small- to mid-sized teams with a single time zone.</a:t>
            </a:r>
            <a:endParaRPr lang="en-US" sz="1800" dirty="0"/>
          </a:p>
          <a:p>
            <a:pPr marL="342900" indent="-342900">
              <a:buFont typeface="+mj-lt"/>
              <a:buAutoNum type="arabicPeriod"/>
            </a:pPr>
            <a:r>
              <a:rPr lang="en-US" sz="1800" dirty="0"/>
              <a:t>Follow-the-Sun: </a:t>
            </a:r>
            <a:r>
              <a:rPr lang="en-US" sz="1600" dirty="0"/>
              <a:t>for distributed teams across three or more time zones and reduces fatigue while maintaining 24/7 coverage.</a:t>
            </a:r>
            <a:endParaRPr lang="en-US" sz="1800" dirty="0"/>
          </a:p>
          <a:p>
            <a:pPr marL="342900" indent="-342900">
              <a:buFont typeface="+mj-lt"/>
              <a:buAutoNum type="arabicPeriod"/>
            </a:pPr>
            <a:r>
              <a:rPr lang="en-US" sz="1800" dirty="0"/>
              <a:t>Round Robin: </a:t>
            </a:r>
            <a:r>
              <a:rPr lang="en-US" sz="1600" dirty="0"/>
              <a:t>distributes load evenly and exposes more engineers to incident response, which builds organizational resilience and cross-functional knowledge.</a:t>
            </a:r>
            <a:endParaRPr lang="en-US" sz="1800" dirty="0"/>
          </a:p>
        </p:txBody>
      </p:sp>
    </p:spTree>
    <p:extLst>
      <p:ext uri="{BB962C8B-B14F-4D97-AF65-F5344CB8AC3E}">
        <p14:creationId xmlns:p14="http://schemas.microsoft.com/office/powerpoint/2010/main" val="2147215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B116E-9F47-EFA5-80EA-3CAF61E49251}"/>
              </a:ext>
            </a:extLst>
          </p:cNvPr>
          <p:cNvSpPr>
            <a:spLocks noGrp="1"/>
          </p:cNvSpPr>
          <p:nvPr>
            <p:ph idx="1"/>
          </p:nvPr>
        </p:nvSpPr>
        <p:spPr>
          <a:xfrm>
            <a:off x="3011025" y="2103120"/>
            <a:ext cx="6169950" cy="3885046"/>
          </a:xfrm>
        </p:spPr>
        <p:txBody>
          <a:bodyPr>
            <a:normAutofit/>
          </a:bodyPr>
          <a:lstStyle/>
          <a:p>
            <a:r>
              <a:rPr lang="en-US" sz="1800" dirty="0"/>
              <a:t>On-call practices come down to a few core commitments: Fair rotation design, clean alerting, structured knowledge transfer and meaningful automation to reduce the load.</a:t>
            </a:r>
          </a:p>
          <a:p>
            <a:r>
              <a:rPr lang="en-US" sz="1800" dirty="0"/>
              <a:t>Organizations that get it right, don’t just have fewer burnout incidents- they have faster response times, better postmortem follow-through and on-call programs that engineers can trust. </a:t>
            </a:r>
          </a:p>
        </p:txBody>
      </p:sp>
    </p:spTree>
    <p:extLst>
      <p:ext uri="{BB962C8B-B14F-4D97-AF65-F5344CB8AC3E}">
        <p14:creationId xmlns:p14="http://schemas.microsoft.com/office/powerpoint/2010/main" val="1246923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97750-D0A1-20D0-08CC-BADF4CE774E0}"/>
              </a:ext>
            </a:extLst>
          </p:cNvPr>
          <p:cNvSpPr>
            <a:spLocks noGrp="1"/>
          </p:cNvSpPr>
          <p:nvPr>
            <p:ph type="title"/>
          </p:nvPr>
        </p:nvSpPr>
        <p:spPr>
          <a:xfrm>
            <a:off x="2688336" y="1276990"/>
            <a:ext cx="6499133" cy="985658"/>
          </a:xfrm>
        </p:spPr>
        <p:txBody>
          <a:bodyPr/>
          <a:lstStyle/>
          <a:p>
            <a:r>
              <a:rPr lang="en-US" dirty="0"/>
              <a:t>Building a Sustainable On-Call Culture</a:t>
            </a:r>
          </a:p>
        </p:txBody>
      </p:sp>
      <p:sp>
        <p:nvSpPr>
          <p:cNvPr id="3" name="Content Placeholder 2">
            <a:extLst>
              <a:ext uri="{FF2B5EF4-FFF2-40B4-BE49-F238E27FC236}">
                <a16:creationId xmlns:a16="http://schemas.microsoft.com/office/drawing/2014/main" id="{3A272070-9810-8C12-AACD-87E5493C8735}"/>
              </a:ext>
            </a:extLst>
          </p:cNvPr>
          <p:cNvSpPr>
            <a:spLocks noGrp="1"/>
          </p:cNvSpPr>
          <p:nvPr>
            <p:ph idx="1"/>
          </p:nvPr>
        </p:nvSpPr>
        <p:spPr>
          <a:xfrm>
            <a:off x="3291441" y="2573544"/>
            <a:ext cx="5609118" cy="3699240"/>
          </a:xfrm>
        </p:spPr>
        <p:txBody>
          <a:bodyPr>
            <a:normAutofit/>
          </a:bodyPr>
          <a:lstStyle/>
          <a:p>
            <a:r>
              <a:rPr lang="en-US" sz="1800" dirty="0"/>
              <a:t>A few practices that should be applied:</a:t>
            </a:r>
          </a:p>
          <a:p>
            <a:pPr marL="342900" indent="-342900">
              <a:buFont typeface="+mj-lt"/>
              <a:buAutoNum type="arabicPeriod"/>
            </a:pPr>
            <a:r>
              <a:rPr lang="en-US" sz="1800" dirty="0"/>
              <a:t>Treat On-Call Readiness as a Team Responsibility</a:t>
            </a:r>
          </a:p>
          <a:p>
            <a:pPr marL="342900" indent="-342900">
              <a:buFont typeface="+mj-lt"/>
              <a:buAutoNum type="arabicPeriod"/>
            </a:pPr>
            <a:r>
              <a:rPr lang="en-US" sz="1800" dirty="0"/>
              <a:t>Make Psychological Safety Explicit</a:t>
            </a:r>
          </a:p>
          <a:p>
            <a:pPr marL="342900" indent="-342900">
              <a:buFont typeface="+mj-lt"/>
              <a:buAutoNum type="arabicPeriod"/>
            </a:pPr>
            <a:r>
              <a:rPr lang="en-US" sz="1800" dirty="0"/>
              <a:t>Review Your Rotation Design Quarterly</a:t>
            </a:r>
          </a:p>
          <a:p>
            <a:pPr marL="342900" indent="-342900">
              <a:buFont typeface="+mj-lt"/>
              <a:buAutoNum type="arabicPeriod"/>
            </a:pPr>
            <a:r>
              <a:rPr lang="en-US" sz="1800" dirty="0"/>
              <a:t>Separate On-Call From Performance Evaluation</a:t>
            </a:r>
          </a:p>
        </p:txBody>
      </p:sp>
    </p:spTree>
    <p:extLst>
      <p:ext uri="{BB962C8B-B14F-4D97-AF65-F5344CB8AC3E}">
        <p14:creationId xmlns:p14="http://schemas.microsoft.com/office/powerpoint/2010/main" val="223715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D2DD-C067-2199-E031-0EC4083836FE}"/>
              </a:ext>
            </a:extLst>
          </p:cNvPr>
          <p:cNvSpPr>
            <a:spLocks noGrp="1"/>
          </p:cNvSpPr>
          <p:nvPr>
            <p:ph type="title"/>
          </p:nvPr>
        </p:nvSpPr>
        <p:spPr>
          <a:xfrm>
            <a:off x="3911859" y="1313566"/>
            <a:ext cx="5378267" cy="985658"/>
          </a:xfrm>
        </p:spPr>
        <p:txBody>
          <a:bodyPr/>
          <a:lstStyle/>
          <a:p>
            <a:pPr algn="ctr"/>
            <a:r>
              <a:rPr lang="en-US" dirty="0"/>
              <a:t>References</a:t>
            </a:r>
          </a:p>
        </p:txBody>
      </p:sp>
      <p:sp>
        <p:nvSpPr>
          <p:cNvPr id="3" name="Content Placeholder 2">
            <a:extLst>
              <a:ext uri="{FF2B5EF4-FFF2-40B4-BE49-F238E27FC236}">
                <a16:creationId xmlns:a16="http://schemas.microsoft.com/office/drawing/2014/main" id="{6E4BF494-E636-F6E6-8CA5-C729D4D53CA3}"/>
              </a:ext>
            </a:extLst>
          </p:cNvPr>
          <p:cNvSpPr>
            <a:spLocks noGrp="1"/>
          </p:cNvSpPr>
          <p:nvPr>
            <p:ph idx="1"/>
          </p:nvPr>
        </p:nvSpPr>
        <p:spPr>
          <a:xfrm>
            <a:off x="3911859" y="2435160"/>
            <a:ext cx="5378268" cy="3662734"/>
          </a:xfrm>
        </p:spPr>
        <p:txBody>
          <a:bodyPr>
            <a:normAutofit/>
          </a:bodyPr>
          <a:lstStyle/>
          <a:p>
            <a:pPr marL="285750" indent="-285750">
              <a:buFont typeface="Arial" panose="020B0604020202020204" pitchFamily="34" charset="0"/>
              <a:buChar char="•"/>
            </a:pPr>
            <a:r>
              <a:rPr lang="en-US" sz="1800" dirty="0">
                <a:hlinkClick r:id="rId2"/>
              </a:rPr>
              <a:t>https://sre.google/workbook/on-call/</a:t>
            </a:r>
            <a:endParaRPr lang="en-US" sz="1800" dirty="0"/>
          </a:p>
          <a:p>
            <a:pPr marL="285750" indent="-285750">
              <a:buFont typeface="Arial" panose="020B0604020202020204" pitchFamily="34" charset="0"/>
              <a:buChar char="•"/>
            </a:pPr>
            <a:r>
              <a:rPr lang="en-US" sz="1800" dirty="0">
                <a:hlinkClick r:id="rId3"/>
              </a:rPr>
              <a:t>https://devops.com/on-call-rotation-best-practices-reducing-burnout-and-improving-response/</a:t>
            </a:r>
            <a:endParaRPr lang="en-US" sz="1800" dirty="0"/>
          </a:p>
          <a:p>
            <a:pPr marL="285750" indent="-285750">
              <a:buFont typeface="Arial" panose="020B0604020202020204" pitchFamily="34" charset="0"/>
              <a:buChar char="•"/>
            </a:pPr>
            <a:r>
              <a:rPr lang="en-US" sz="1800" dirty="0">
                <a:hlinkClick r:id="rId4"/>
              </a:rPr>
              <a:t>https://runframe.io/learn/on-call-rotation</a:t>
            </a:r>
            <a:endParaRPr lang="en-US" sz="1800" dirty="0"/>
          </a:p>
          <a:p>
            <a:pPr marL="285750" indent="-285750">
              <a:buFont typeface="Arial" panose="020B0604020202020204" pitchFamily="34" charset="0"/>
              <a:buChar char="•"/>
            </a:pPr>
            <a:r>
              <a:rPr lang="en-US" sz="1800" dirty="0">
                <a:hlinkClick r:id="rId2"/>
              </a:rPr>
              <a:t>https://sre.google/workbook/on-call/</a:t>
            </a:r>
            <a:endParaRPr lang="en-US" sz="1800" dirty="0"/>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166302511"/>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1275</TotalTime>
  <Words>576</Words>
  <Application>Microsoft Macintosh PowerPoint</Application>
  <PresentationFormat>Widescreen</PresentationFormat>
  <Paragraphs>36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Neue Haas Grotesk Text Pro</vt:lpstr>
      <vt:lpstr>Film Burn</vt:lpstr>
      <vt:lpstr>Pager Rotation in DevOps</vt:lpstr>
      <vt:lpstr>What is Pager Rotations?</vt:lpstr>
      <vt:lpstr>“You Build it, You Run it”</vt:lpstr>
      <vt:lpstr>PowerPoint Presentation</vt:lpstr>
      <vt:lpstr>PowerPoint Presentation</vt:lpstr>
      <vt:lpstr>On-Call Practices</vt:lpstr>
      <vt:lpstr>PowerPoint Presentation</vt:lpstr>
      <vt:lpstr>Building a Sustainable On-Call Culture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Espino</dc:creator>
  <cp:lastModifiedBy>Vanessa Espino</cp:lastModifiedBy>
  <cp:revision>4</cp:revision>
  <dcterms:created xsi:type="dcterms:W3CDTF">2026-09-19T21:21:13Z</dcterms:created>
  <dcterms:modified xsi:type="dcterms:W3CDTF">2026-09-20T18:36:54Z</dcterms:modified>
</cp:coreProperties>
</file>