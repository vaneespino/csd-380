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sldIdLst>
    <p:sldId id="256" r:id="rId2"/>
    <p:sldId id="258" r:id="rId3"/>
    <p:sldId id="257" r:id="rId4"/>
    <p:sldId id="259" r:id="rId5"/>
    <p:sldId id="260" r:id="rId6"/>
    <p:sldId id="265" r:id="rId7"/>
    <p:sldId id="261" r:id="rId8"/>
    <p:sldId id="262" r:id="rId9"/>
    <p:sldId id="264" r:id="rId10"/>
    <p:sldId id="263"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1"/>
    <p:restoredTop sz="91429"/>
  </p:normalViewPr>
  <p:slideViewPr>
    <p:cSldViewPr snapToGrid="0">
      <p:cViewPr varScale="1">
        <p:scale>
          <a:sx n="45" d="100"/>
          <a:sy n="45" d="100"/>
        </p:scale>
        <p:origin x="28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40013" y="484479"/>
            <a:ext cx="6911974" cy="2954655"/>
          </a:xfrm>
        </p:spPr>
        <p:txBody>
          <a:bodyPr anchor="b">
            <a:normAutofit/>
          </a:bodyPr>
          <a:lstStyle>
            <a:lvl1pPr algn="ctr">
              <a:defRPr sz="5600" spc="-100" baseline="0"/>
            </a:lvl1pPr>
          </a:lstStyle>
          <a:p>
            <a:r>
              <a:rPr lang="en-US"/>
              <a:t>Click to edit Master title style</a:t>
            </a:r>
            <a:endParaRPr lang="en-US" dirty="0"/>
          </a:p>
        </p:txBody>
      </p:sp>
      <p:sp>
        <p:nvSpPr>
          <p:cNvPr id="3" name="Subtitle 2"/>
          <p:cNvSpPr>
            <a:spLocks noGrp="1"/>
          </p:cNvSpPr>
          <p:nvPr>
            <p:ph type="subTitle" idx="1"/>
          </p:nvPr>
        </p:nvSpPr>
        <p:spPr>
          <a:xfrm>
            <a:off x="2640013" y="3799133"/>
            <a:ext cx="6911974" cy="1969841"/>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2395C5C9-164C-46B3-A87E-7660D39D3106}" type="datetime2">
              <a:rPr lang="en-US" smtClean="0"/>
              <a:t>Friday, September 25, 2026</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4057476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720000" y="2541600"/>
            <a:ext cx="10728325" cy="322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4DDCFF8A-AAF8-4A12-8A91-9CA0EAF6CBB9}" type="datetime2">
              <a:rPr lang="en-US" smtClean="0"/>
              <a:t>Friday, September 25, 2026</a:t>
            </a:fld>
            <a:endParaRPr lang="en-US" dirty="0"/>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821567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6" cy="2879724"/>
          </a:xfrm>
        </p:spPr>
        <p:txBody>
          <a:bodyPr anchor="b">
            <a:normAutofit/>
          </a:bodyPr>
          <a:lstStyle>
            <a:lvl1pPr>
              <a:defRPr sz="5600"/>
            </a:lvl1pPr>
          </a:lstStyle>
          <a:p>
            <a:r>
              <a:rPr lang="en-US"/>
              <a:t>Click to edit Master title style</a:t>
            </a:r>
            <a:endParaRPr lang="en-US" dirty="0"/>
          </a:p>
        </p:txBody>
      </p:sp>
      <p:sp>
        <p:nvSpPr>
          <p:cNvPr id="3" name="Text Placeholder 2"/>
          <p:cNvSpPr>
            <a:spLocks noGrp="1"/>
          </p:cNvSpPr>
          <p:nvPr>
            <p:ph type="body" idx="1"/>
          </p:nvPr>
        </p:nvSpPr>
        <p:spPr>
          <a:xfrm>
            <a:off x="719910" y="3858924"/>
            <a:ext cx="10728326" cy="1919076"/>
          </a:xfrm>
        </p:spPr>
        <p:txBody>
          <a:bodyPr>
            <a:normAutofit/>
          </a:bodyPr>
          <a:lstStyle>
            <a:lvl1pPr marL="0" indent="0">
              <a:buNone/>
              <a:defRPr sz="2800">
                <a:solidFill>
                  <a:schemeClr val="tx1">
                    <a:tint val="75000"/>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ABCC25C3-021A-4B0B-8F70-0C181FE1CF45}" type="datetime2">
              <a:rPr lang="en-US" smtClean="0"/>
              <a:t>Friday, September 25, 2026</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pPr algn="l"/>
            <a:r>
              <a:rPr lang="en-US" dirty="0"/>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5935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200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8400" y="2541600"/>
            <a:ext cx="5003801" cy="3234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0C23D88D-8CEC-4ED9-A53B-5596187D9A16}" type="datetime2">
              <a:rPr lang="en-US" smtClean="0"/>
              <a:t>Friday, September 25, 2026</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36975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3" name="Text Placeholder 2"/>
          <p:cNvSpPr>
            <a:spLocks noGrp="1"/>
          </p:cNvSpPr>
          <p:nvPr>
            <p:ph type="body" idx="1"/>
          </p:nvPr>
        </p:nvSpPr>
        <p:spPr>
          <a:xfrm>
            <a:off x="720000" y="1840698"/>
            <a:ext cx="5015638" cy="565796"/>
          </a:xfrm>
        </p:spPr>
        <p:txBody>
          <a:bodyPr wrap="square"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20000" y="2541600"/>
            <a:ext cx="5003801"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400" y="1840698"/>
            <a:ext cx="5015638" cy="565796"/>
          </a:xfrm>
        </p:spPr>
        <p:txBody>
          <a:bodyPr anchor="b">
            <a:normAutofit/>
          </a:bodyPr>
          <a:lstStyle>
            <a:lvl1pPr marL="0" indent="0">
              <a:lnSpc>
                <a:spcPct val="120000"/>
              </a:lnSpc>
              <a:buNone/>
              <a:defRPr sz="16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400" y="2541600"/>
            <a:ext cx="5003800" cy="3234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731837" y="6138000"/>
            <a:ext cx="3095626" cy="720000"/>
          </a:xfrm>
          <a:prstGeom prst="rect">
            <a:avLst/>
          </a:prstGeom>
        </p:spPr>
        <p:txBody>
          <a:bodyPr/>
          <a:lstStyle/>
          <a:p>
            <a:fld id="{D2CCD382-DFDA-4722-A27A-59C21AD112F2}" type="datetime2">
              <a:rPr lang="en-US" smtClean="0"/>
              <a:t>Friday, September 25, 2026</a:t>
            </a:fld>
            <a:endParaRPr lang="en-US"/>
          </a:p>
        </p:txBody>
      </p:sp>
      <p:sp>
        <p:nvSpPr>
          <p:cNvPr id="8" name="Footer Placeholder 7"/>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9" name="Slide Number Placeholder 8"/>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871297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731837" y="6138000"/>
            <a:ext cx="3095626" cy="720000"/>
          </a:xfrm>
          <a:prstGeom prst="rect">
            <a:avLst/>
          </a:prstGeom>
        </p:spPr>
        <p:txBody>
          <a:bodyPr/>
          <a:lstStyle/>
          <a:p>
            <a:fld id="{22F2A30D-1C09-413F-AAB1-38F366000715}" type="datetime2">
              <a:rPr lang="en-US" smtClean="0"/>
              <a:t>Friday, September 25, 2026</a:t>
            </a:fld>
            <a:endParaRPr lang="en-US"/>
          </a:p>
        </p:txBody>
      </p:sp>
      <p:sp>
        <p:nvSpPr>
          <p:cNvPr id="4" name="Footer Placeholder 3"/>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5" name="Slide Number Placeholder 4"/>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44937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31837" y="6138000"/>
            <a:ext cx="3095626" cy="720000"/>
          </a:xfrm>
          <a:prstGeom prst="rect">
            <a:avLst/>
          </a:prstGeom>
        </p:spPr>
        <p:txBody>
          <a:bodyPr/>
          <a:lstStyle/>
          <a:p>
            <a:fld id="{6DB82B9C-D65E-4F64-95C3-B10F3B00F0D9}" type="datetime2">
              <a:rPr lang="en-US" smtClean="0"/>
              <a:t>Friday, September 25, 2026</a:t>
            </a:fld>
            <a:endParaRPr lang="en-US"/>
          </a:p>
        </p:txBody>
      </p:sp>
      <p:sp>
        <p:nvSpPr>
          <p:cNvPr id="3" name="Footer Placeholder 2"/>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4" name="Slide Number Placeholder 3"/>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3318991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107463" cy="1477328"/>
          </a:xfrm>
        </p:spPr>
        <p:txBody>
          <a:bodyPr anchor="t" anchorCtr="0">
            <a:normAutofit/>
          </a:bodyPr>
          <a:lstStyle>
            <a:lvl1pPr>
              <a:lnSpc>
                <a:spcPct val="100000"/>
              </a:lnSpc>
              <a:defRPr sz="2800"/>
            </a:lvl1pPr>
          </a:lstStyle>
          <a:p>
            <a:r>
              <a:rPr lang="en-US"/>
              <a:t>Click to edit Master title style</a:t>
            </a:r>
            <a:endParaRPr lang="en-US" dirty="0"/>
          </a:p>
        </p:txBody>
      </p:sp>
      <p:sp>
        <p:nvSpPr>
          <p:cNvPr id="3" name="Content Placeholder 2"/>
          <p:cNvSpPr>
            <a:spLocks noGrp="1"/>
          </p:cNvSpPr>
          <p:nvPr>
            <p:ph idx="1"/>
          </p:nvPr>
        </p:nvSpPr>
        <p:spPr>
          <a:xfrm>
            <a:off x="4548188" y="584662"/>
            <a:ext cx="6911974" cy="5184313"/>
          </a:xfrm>
        </p:spPr>
        <p:txBody>
          <a:bodyPr/>
          <a:lstStyle>
            <a:lvl1pPr marL="0" indent="0">
              <a:lnSpc>
                <a:spcPct val="100000"/>
              </a:lnSpc>
              <a:buNone/>
              <a:defRPr sz="4800"/>
            </a:lvl1pPr>
            <a:lvl2pPr marL="914400" indent="-457200">
              <a:buFont typeface="Arial" panose="020B0604020202020204" pitchFamily="34" charset="0"/>
              <a:buChar char="•"/>
              <a:defRPr sz="2000"/>
            </a:lvl2pPr>
            <a:lvl3pPr marL="1257300" indent="-342900">
              <a:buFont typeface="Arial" panose="020B0604020202020204" pitchFamily="34" charset="0"/>
              <a:buChar char="•"/>
              <a:defRPr sz="2000"/>
            </a:lvl3pPr>
            <a:lvl4pPr marL="1714500" indent="-342900">
              <a:buFont typeface="Arial" panose="020B0604020202020204" pitchFamily="34" charset="0"/>
              <a:buChar char="•"/>
              <a:defRPr sz="2000"/>
            </a:lvl4pPr>
            <a:lvl5pPr marL="2171700" indent="-342900">
              <a:buFont typeface="Arial" panose="020B0604020202020204" pitchFamily="34" charset="0"/>
              <a:buChar cha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0000" y="2541600"/>
            <a:ext cx="3107463" cy="32318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B7F5FDCC-6AAC-4A08-B9E0-3793AB5E64C3}" type="datetime2">
              <a:rPr lang="en-US" smtClean="0"/>
              <a:t>Friday, September 25, 2026</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774167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3095626" cy="1476000"/>
          </a:xfrm>
        </p:spPr>
        <p:txBody>
          <a:bodyPr anchor="t" anchorCtr="0">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548188" y="728664"/>
            <a:ext cx="6923812" cy="504031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0000" y="2541600"/>
            <a:ext cx="3095625" cy="3232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31837" y="6138000"/>
            <a:ext cx="3095626" cy="720000"/>
          </a:xfrm>
          <a:prstGeom prst="rect">
            <a:avLst/>
          </a:prstGeom>
        </p:spPr>
        <p:txBody>
          <a:bodyPr/>
          <a:lstStyle/>
          <a:p>
            <a:fld id="{349FE94D-439C-40F1-900E-BC07940E3988}" type="datetime2">
              <a:rPr lang="en-US" smtClean="0"/>
              <a:t>Friday, September 25, 2026</a:t>
            </a:fld>
            <a:endParaRPr lang="en-US"/>
          </a:p>
        </p:txBody>
      </p:sp>
      <p:sp>
        <p:nvSpPr>
          <p:cNvPr id="6" name="Footer Placeholder 5"/>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7" name="Slide Number Placeholder 6"/>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347062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720000" y="2636838"/>
            <a:ext cx="10728325" cy="3132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5B75179A-1E2B-41AB-B400-4F1B4022FAEE}" type="datetime2">
              <a:rPr lang="en-US" smtClean="0"/>
              <a:t>Friday, September 25, 2026</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1822642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140486" y="720000"/>
            <a:ext cx="1477328" cy="5048975"/>
          </a:xfrm>
        </p:spPr>
        <p:txBody>
          <a:bodyPr vert="eaVert">
            <a:normAutofit/>
          </a:bodyPr>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31838" y="720000"/>
            <a:ext cx="8929614" cy="5048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1837" y="6138000"/>
            <a:ext cx="3095626" cy="720000"/>
          </a:xfrm>
          <a:prstGeom prst="rect">
            <a:avLst/>
          </a:prstGeom>
        </p:spPr>
        <p:txBody>
          <a:bodyPr/>
          <a:lstStyle/>
          <a:p>
            <a:fld id="{05681D0F-6595-4F14-8EF3-954CD87C797B}" type="datetime2">
              <a:rPr lang="en-US" smtClean="0"/>
              <a:t>Friday, September 25, 2026</a:t>
            </a:fld>
            <a:endParaRPr lang="en-US"/>
          </a:p>
        </p:txBody>
      </p:sp>
      <p:sp>
        <p:nvSpPr>
          <p:cNvPr id="5" name="Footer Placeholder 4"/>
          <p:cNvSpPr>
            <a:spLocks noGrp="1"/>
          </p:cNvSpPr>
          <p:nvPr>
            <p:ph type="ftr" sz="quarter" idx="11"/>
          </p:nvPr>
        </p:nvSpPr>
        <p:spPr>
          <a:xfrm>
            <a:off x="4548188" y="6138000"/>
            <a:ext cx="5003800" cy="720000"/>
          </a:xfrm>
          <a:prstGeom prst="rect">
            <a:avLst/>
          </a:prstGeom>
        </p:spPr>
        <p:txBody>
          <a:bodyPr/>
          <a:lstStyle/>
          <a:p>
            <a:r>
              <a:rPr lang="en-US"/>
              <a:t>Sample Footer Text</a:t>
            </a:r>
          </a:p>
        </p:txBody>
      </p:sp>
      <p:sp>
        <p:nvSpPr>
          <p:cNvPr id="6" name="Slide Number Placeholder 5"/>
          <p:cNvSpPr>
            <a:spLocks noGrp="1"/>
          </p:cNvSpPr>
          <p:nvPr>
            <p:ph type="sldNum" sz="quarter" idx="12"/>
          </p:nvPr>
        </p:nvSpPr>
        <p:spPr>
          <a:xfrm>
            <a:off x="10272713" y="6138000"/>
            <a:ext cx="1187449" cy="720000"/>
          </a:xfrm>
          <a:prstGeom prst="rect">
            <a:avLst/>
          </a:prstGeom>
        </p:spPr>
        <p:txBody>
          <a:bodyPr/>
          <a:lstStyle/>
          <a:p>
            <a:fld id="{1621B6DD-29C1-4FEA-923F-71EA1347694C}" type="slidenum">
              <a:rPr lang="en-US" smtClean="0"/>
              <a:t>‹#›</a:t>
            </a:fld>
            <a:endParaRPr lang="en-US"/>
          </a:p>
        </p:txBody>
      </p:sp>
    </p:spTree>
    <p:extLst>
      <p:ext uri="{BB962C8B-B14F-4D97-AF65-F5344CB8AC3E}">
        <p14:creationId xmlns:p14="http://schemas.microsoft.com/office/powerpoint/2010/main" val="2513581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646535-AEF6-4883-A4F9-EEC1F8B4319E}"/>
              </a:ext>
            </a:extLst>
          </p:cNvPr>
          <p:cNvSpPr/>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20000" y="619200"/>
            <a:ext cx="10728322" cy="1477328"/>
          </a:xfrm>
          <a:prstGeom prst="rect">
            <a:avLst/>
          </a:prstGeom>
        </p:spPr>
        <p:txBody>
          <a:bodyPr vert="horz" wrap="square" lIns="0" tIns="0" rIns="0" bIns="0" rtlCol="0" anchor="t" anchorCtr="0">
            <a:normAutofit/>
          </a:bodyPr>
          <a:lstStyle/>
          <a:p>
            <a:endParaRPr lang="en-US" dirty="0"/>
          </a:p>
        </p:txBody>
      </p:sp>
      <p:sp>
        <p:nvSpPr>
          <p:cNvPr id="3" name="Text Placeholder 2"/>
          <p:cNvSpPr>
            <a:spLocks noGrp="1"/>
          </p:cNvSpPr>
          <p:nvPr>
            <p:ph type="body" idx="1"/>
          </p:nvPr>
        </p:nvSpPr>
        <p:spPr>
          <a:xfrm>
            <a:off x="720000" y="2541600"/>
            <a:ext cx="10728325" cy="32273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1837" y="6138000"/>
            <a:ext cx="3095626" cy="720000"/>
          </a:xfrm>
          <a:prstGeom prst="rect">
            <a:avLst/>
          </a:prstGeom>
        </p:spPr>
        <p:txBody>
          <a:bodyPr vert="horz" lIns="0" tIns="180000" rIns="0" bIns="180000" rtlCol="0" anchor="ctr"/>
          <a:lstStyle>
            <a:lvl1pPr algn="l">
              <a:lnSpc>
                <a:spcPct val="120000"/>
              </a:lnSpc>
              <a:defRPr sz="1200" spc="20" baseline="0">
                <a:solidFill>
                  <a:schemeClr val="tx1"/>
                </a:solidFill>
                <a:latin typeface="+mn-lt"/>
              </a:defRPr>
            </a:lvl1pPr>
          </a:lstStyle>
          <a:p>
            <a:fld id="{8DEA2CF1-0EB2-4673-802D-3371233E4A77}" type="datetime2">
              <a:rPr lang="en-US" smtClean="0"/>
              <a:t>Friday, September 25, 2026</a:t>
            </a:fld>
            <a:endParaRPr lang="en-US" dirty="0"/>
          </a:p>
        </p:txBody>
      </p:sp>
      <p:sp>
        <p:nvSpPr>
          <p:cNvPr id="5" name="Footer Placeholder 4"/>
          <p:cNvSpPr>
            <a:spLocks noGrp="1"/>
          </p:cNvSpPr>
          <p:nvPr>
            <p:ph type="ftr" sz="quarter" idx="3"/>
          </p:nvPr>
        </p:nvSpPr>
        <p:spPr>
          <a:xfrm>
            <a:off x="4548188" y="6138000"/>
            <a:ext cx="5003800" cy="720000"/>
          </a:xfrm>
          <a:prstGeom prst="rect">
            <a:avLst/>
          </a:prstGeom>
        </p:spPr>
        <p:txBody>
          <a:bodyPr vert="horz" lIns="0" tIns="180000" rIns="0" bIns="180000" rtlCol="0" anchor="ctr"/>
          <a:lstStyle>
            <a:lvl1pPr algn="ctr">
              <a:lnSpc>
                <a:spcPct val="120000"/>
              </a:lnSpc>
              <a:defRPr sz="1200" spc="20" baseline="0">
                <a:solidFill>
                  <a:schemeClr val="tx1"/>
                </a:solidFill>
                <a:latin typeface="+mn-lt"/>
              </a:defRPr>
            </a:lvl1pPr>
          </a:lstStyle>
          <a:p>
            <a:pPr algn="l"/>
            <a:r>
              <a:rPr lang="en-US"/>
              <a:t>Sample Footer Text</a:t>
            </a:r>
            <a:endParaRPr lang="en-US" dirty="0"/>
          </a:p>
        </p:txBody>
      </p:sp>
      <p:sp>
        <p:nvSpPr>
          <p:cNvPr id="6" name="Slide Number Placeholder 5"/>
          <p:cNvSpPr>
            <a:spLocks noGrp="1"/>
          </p:cNvSpPr>
          <p:nvPr>
            <p:ph type="sldNum" sz="quarter" idx="4"/>
          </p:nvPr>
        </p:nvSpPr>
        <p:spPr>
          <a:xfrm>
            <a:off x="10272713" y="6138000"/>
            <a:ext cx="1187449" cy="720000"/>
          </a:xfrm>
          <a:prstGeom prst="rect">
            <a:avLst/>
          </a:prstGeom>
        </p:spPr>
        <p:txBody>
          <a:bodyPr vert="horz" lIns="0" tIns="180000" rIns="0" bIns="180000" rtlCol="0" anchor="ctr"/>
          <a:lstStyle>
            <a:lvl1pPr algn="r">
              <a:lnSpc>
                <a:spcPct val="120000"/>
              </a:lnSpc>
              <a:defRPr sz="1200" spc="20" baseline="0">
                <a:solidFill>
                  <a:schemeClr val="tx1"/>
                </a:solidFill>
                <a:latin typeface="+mn-l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25964938"/>
      </p:ext>
    </p:extLst>
  </p:cSld>
  <p:clrMap bg1="dk1" tx1="lt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100000"/>
        </a:lnSpc>
        <a:spcBef>
          <a:spcPct val="0"/>
        </a:spcBef>
        <a:buNone/>
        <a:defRPr sz="3200" kern="1200" cap="none"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1pPr>
      <a:lvl2pPr marL="6858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2pPr>
      <a:lvl3pPr marL="11430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3pPr>
      <a:lvl4pPr marL="16002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4pPr>
      <a:lvl5pPr marL="2057400" indent="-228600" algn="l" defTabSz="914400" rtl="0" eaLnBrk="1" latinLnBrk="0" hangingPunct="1">
        <a:lnSpc>
          <a:spcPct val="120000"/>
        </a:lnSpc>
        <a:spcBef>
          <a:spcPts val="500"/>
        </a:spcBef>
        <a:buClr>
          <a:schemeClr val="accent4"/>
        </a:buClr>
        <a:buFont typeface="The Hand Extrablack" panose="03070A02030502020204" pitchFamily="66" charset="0"/>
        <a:buChar char="•"/>
        <a:defRPr sz="2000" kern="1200" spc="20" baseline="0">
          <a:solidFill>
            <a:schemeClr val="tx1">
              <a:alpha val="58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deda.com/insights/blog/cybersecurity-and-just-culture" TargetMode="External"/><Relationship Id="rId2" Type="http://schemas.openxmlformats.org/officeDocument/2006/relationships/hyperlink" Target="https://justculture.hqa.ca/overcoming-barriers-to-a-just-culture/" TargetMode="External"/><Relationship Id="rId1" Type="http://schemas.openxmlformats.org/officeDocument/2006/relationships/slideLayout" Target="../slideLayouts/slideLayout2.xml"/><Relationship Id="rId5" Type="http://schemas.openxmlformats.org/officeDocument/2006/relationships/hyperlink" Target="https://blog.codacy.com/quality-oriented-culture" TargetMode="External"/><Relationship Id="rId4" Type="http://schemas.openxmlformats.org/officeDocument/2006/relationships/hyperlink" Target="https://kbmax.com/engineer-to-order-software-overcoming-the-5-big-barriers-to-adop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2DFF2D-EA41-4CBE-9659-C2917E488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026DD-8814-8A6F-616B-DF1634FFD885}"/>
              </a:ext>
            </a:extLst>
          </p:cNvPr>
          <p:cNvSpPr>
            <a:spLocks noGrp="1"/>
          </p:cNvSpPr>
          <p:nvPr>
            <p:ph type="ctrTitle"/>
          </p:nvPr>
        </p:nvSpPr>
        <p:spPr>
          <a:xfrm>
            <a:off x="720000" y="720000"/>
            <a:ext cx="5015638" cy="2804400"/>
          </a:xfrm>
        </p:spPr>
        <p:txBody>
          <a:bodyPr>
            <a:normAutofit/>
          </a:bodyPr>
          <a:lstStyle/>
          <a:p>
            <a:r>
              <a:rPr lang="en-US" dirty="0"/>
              <a:t>Just Culture</a:t>
            </a:r>
          </a:p>
        </p:txBody>
      </p:sp>
      <p:sp>
        <p:nvSpPr>
          <p:cNvPr id="3" name="Subtitle 2">
            <a:extLst>
              <a:ext uri="{FF2B5EF4-FFF2-40B4-BE49-F238E27FC236}">
                <a16:creationId xmlns:a16="http://schemas.microsoft.com/office/drawing/2014/main" id="{D8906941-84AE-411D-1884-F04D6AC9351E}"/>
              </a:ext>
            </a:extLst>
          </p:cNvPr>
          <p:cNvSpPr>
            <a:spLocks noGrp="1"/>
          </p:cNvSpPr>
          <p:nvPr>
            <p:ph type="subTitle" idx="1"/>
          </p:nvPr>
        </p:nvSpPr>
        <p:spPr>
          <a:xfrm>
            <a:off x="720000" y="3830399"/>
            <a:ext cx="5015638" cy="1936800"/>
          </a:xfrm>
        </p:spPr>
        <p:txBody>
          <a:bodyPr>
            <a:normAutofit/>
          </a:bodyPr>
          <a:lstStyle/>
          <a:p>
            <a:r>
              <a:rPr lang="en-US" dirty="0"/>
              <a:t>Vanessa Espino</a:t>
            </a:r>
          </a:p>
          <a:p>
            <a:r>
              <a:rPr lang="en-US" dirty="0"/>
              <a:t>Module 8</a:t>
            </a:r>
          </a:p>
          <a:p>
            <a:r>
              <a:rPr lang="en-US" dirty="0"/>
              <a:t>CSD 380</a:t>
            </a:r>
          </a:p>
        </p:txBody>
      </p:sp>
      <p:pic>
        <p:nvPicPr>
          <p:cNvPr id="4" name="Picture 3">
            <a:extLst>
              <a:ext uri="{FF2B5EF4-FFF2-40B4-BE49-F238E27FC236}">
                <a16:creationId xmlns:a16="http://schemas.microsoft.com/office/drawing/2014/main" id="{A8142B64-8206-6E43-751A-440C243A6185}"/>
              </a:ext>
            </a:extLst>
          </p:cNvPr>
          <p:cNvPicPr>
            <a:picLocks noChangeAspect="1"/>
          </p:cNvPicPr>
          <p:nvPr/>
        </p:nvPicPr>
        <p:blipFill>
          <a:blip r:embed="rId2"/>
          <a:srcRect l="38069"/>
          <a:stretch>
            <a:fillRect/>
          </a:stretch>
        </p:blipFill>
        <p:spPr>
          <a:xfrm>
            <a:off x="6529067" y="10"/>
            <a:ext cx="5662935" cy="6857990"/>
          </a:xfrm>
          <a:custGeom>
            <a:avLst/>
            <a:gdLst/>
            <a:ahLst/>
            <a:cxnLst/>
            <a:rect l="l" t="t" r="r" b="b"/>
            <a:pathLst>
              <a:path w="5662935" h="6858000">
                <a:moveTo>
                  <a:pt x="598332" y="0"/>
                </a:moveTo>
                <a:lnTo>
                  <a:pt x="5662935" y="0"/>
                </a:lnTo>
                <a:lnTo>
                  <a:pt x="5662935" y="6858000"/>
                </a:lnTo>
                <a:lnTo>
                  <a:pt x="0" y="6858000"/>
                </a:lnTo>
                <a:lnTo>
                  <a:pt x="78957" y="6777438"/>
                </a:lnTo>
                <a:cubicBezTo>
                  <a:pt x="291624" y="6544265"/>
                  <a:pt x="490445" y="6275955"/>
                  <a:pt x="672224" y="5969316"/>
                </a:cubicBezTo>
                <a:cubicBezTo>
                  <a:pt x="914597" y="5515036"/>
                  <a:pt x="1066080" y="5030470"/>
                  <a:pt x="1217563" y="4515619"/>
                </a:cubicBezTo>
                <a:cubicBezTo>
                  <a:pt x="1338748" y="3970483"/>
                  <a:pt x="1399341" y="3516203"/>
                  <a:pt x="1399341" y="3061922"/>
                </a:cubicBezTo>
                <a:cubicBezTo>
                  <a:pt x="1399341" y="1948936"/>
                  <a:pt x="1190580" y="1021447"/>
                  <a:pt x="773055" y="279455"/>
                </a:cubicBezTo>
                <a:close/>
              </a:path>
            </a:pathLst>
          </a:custGeom>
        </p:spPr>
      </p:pic>
    </p:spTree>
    <p:extLst>
      <p:ext uri="{BB962C8B-B14F-4D97-AF65-F5344CB8AC3E}">
        <p14:creationId xmlns:p14="http://schemas.microsoft.com/office/powerpoint/2010/main" val="3357462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5" name="TextBox 4">
            <a:extLst>
              <a:ext uri="{FF2B5EF4-FFF2-40B4-BE49-F238E27FC236}">
                <a16:creationId xmlns:a16="http://schemas.microsoft.com/office/drawing/2014/main" id="{ACE6B78C-4D05-4D72-14AF-EC2658DFE7D7}"/>
              </a:ext>
            </a:extLst>
          </p:cNvPr>
          <p:cNvSpPr txBox="1"/>
          <p:nvPr/>
        </p:nvSpPr>
        <p:spPr>
          <a:xfrm>
            <a:off x="377162" y="827314"/>
            <a:ext cx="7780031" cy="4930559"/>
          </a:xfrm>
          <a:prstGeom prst="rect">
            <a:avLst/>
          </a:prstGeom>
        </p:spPr>
        <p:txBody>
          <a:bodyPr vert="horz" lIns="0" tIns="0" rIns="0" bIns="0" rtlCol="0">
            <a:normAutofit/>
          </a:bodyPr>
          <a:lstStyle/>
          <a:p>
            <a:pPr marL="285750" indent="-228600">
              <a:lnSpc>
                <a:spcPct val="110000"/>
              </a:lnSpc>
              <a:spcAft>
                <a:spcPts val="600"/>
              </a:spcAft>
              <a:buClr>
                <a:schemeClr val="accent4"/>
              </a:buClr>
              <a:buFont typeface="The Hand Extrablack" panose="03070A02030502020204" pitchFamily="66" charset="0"/>
              <a:buChar char="•"/>
            </a:pPr>
            <a:r>
              <a:rPr lang="en-US" sz="2800" spc="20" dirty="0">
                <a:solidFill>
                  <a:schemeClr val="tx1">
                    <a:alpha val="58000"/>
                  </a:schemeClr>
                </a:solidFill>
                <a:latin typeface="Times New Roman" panose="02020603050405020304" pitchFamily="18" charset="0"/>
                <a:cs typeface="Times New Roman" panose="02020603050405020304" pitchFamily="18" charset="0"/>
              </a:rPr>
              <a:t>In the world of cybersecurity, incidents aren’t just likely- they’re inevitable. Human error, process flaws, technical vulnerabilities… odds are sooner or later something will go wrong.</a:t>
            </a:r>
          </a:p>
          <a:p>
            <a:pPr marL="285750" indent="-228600">
              <a:lnSpc>
                <a:spcPct val="110000"/>
              </a:lnSpc>
              <a:spcAft>
                <a:spcPts val="600"/>
              </a:spcAft>
              <a:buClr>
                <a:schemeClr val="accent4"/>
              </a:buClr>
              <a:buFont typeface="The Hand Extrablack" panose="03070A02030502020204" pitchFamily="66" charset="0"/>
              <a:buChar char="•"/>
            </a:pPr>
            <a:r>
              <a:rPr lang="en-US" sz="2800" spc="20" dirty="0">
                <a:solidFill>
                  <a:schemeClr val="tx1">
                    <a:alpha val="58000"/>
                  </a:schemeClr>
                </a:solidFill>
                <a:latin typeface="Times New Roman" panose="02020603050405020304" pitchFamily="18" charset="0"/>
                <a:cs typeface="Times New Roman" panose="02020603050405020304" pitchFamily="18" charset="0"/>
              </a:rPr>
              <a:t>What distinguishes a resilient organization from a vulnerable one is how it responds.</a:t>
            </a:r>
          </a:p>
          <a:p>
            <a:pPr marL="285750" indent="-228600">
              <a:lnSpc>
                <a:spcPct val="110000"/>
              </a:lnSpc>
              <a:spcAft>
                <a:spcPts val="600"/>
              </a:spcAft>
              <a:buClr>
                <a:schemeClr val="accent4"/>
              </a:buClr>
              <a:buFont typeface="The Hand Extrablack" panose="03070A02030502020204" pitchFamily="66" charset="0"/>
              <a:buChar char="•"/>
            </a:pPr>
            <a:r>
              <a:rPr lang="en-US" sz="2800" spc="20" dirty="0">
                <a:solidFill>
                  <a:schemeClr val="tx1">
                    <a:alpha val="58000"/>
                  </a:schemeClr>
                </a:solidFill>
                <a:latin typeface="Times New Roman" panose="02020603050405020304" pitchFamily="18" charset="0"/>
                <a:cs typeface="Times New Roman" panose="02020603050405020304" pitchFamily="18" charset="0"/>
              </a:rPr>
              <a:t>Punishing those who make mistakes does not prevent the next one, instead a paradigm shift is needed. This is where Just Culture is needed.</a:t>
            </a:r>
          </a:p>
        </p:txBody>
      </p:sp>
      <p:sp>
        <p:nvSpPr>
          <p:cNvPr id="29"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86474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58D7577D-5197-9B62-EB88-31C699A9AAA4}"/>
              </a:ext>
            </a:extLst>
          </p:cNvPr>
          <p:cNvSpPr>
            <a:spLocks noGrp="1"/>
          </p:cNvSpPr>
          <p:nvPr>
            <p:ph type="title"/>
          </p:nvPr>
        </p:nvSpPr>
        <p:spPr>
          <a:xfrm>
            <a:off x="720000" y="619200"/>
            <a:ext cx="6911974" cy="1477328"/>
          </a:xfrm>
        </p:spPr>
        <p:txBody>
          <a:bodyPr vert="horz" wrap="square" lIns="0" tIns="0" rIns="0" bIns="0" rtlCol="0" anchor="ctr" anchorCtr="0">
            <a:normAutofit/>
          </a:bodyPr>
          <a:lstStyle/>
          <a:p>
            <a:r>
              <a:rPr lang="en-US" spc="-100"/>
              <a:t>What is a “Just Culture”?</a:t>
            </a:r>
          </a:p>
        </p:txBody>
      </p:sp>
      <p:sp>
        <p:nvSpPr>
          <p:cNvPr id="5" name="TextBox 4">
            <a:extLst>
              <a:ext uri="{FF2B5EF4-FFF2-40B4-BE49-F238E27FC236}">
                <a16:creationId xmlns:a16="http://schemas.microsoft.com/office/drawing/2014/main" id="{698D9540-D0AF-525D-6519-33E75DB76CEB}"/>
              </a:ext>
            </a:extLst>
          </p:cNvPr>
          <p:cNvSpPr txBox="1"/>
          <p:nvPr/>
        </p:nvSpPr>
        <p:spPr>
          <a:xfrm>
            <a:off x="720001" y="1900948"/>
            <a:ext cx="6911974" cy="4957052"/>
          </a:xfrm>
          <a:prstGeom prst="rect">
            <a:avLst/>
          </a:prstGeom>
        </p:spPr>
        <p:txBody>
          <a:bodyPr vert="horz" lIns="0" tIns="0" rIns="0" bIns="0" rtlCol="0">
            <a:noAutofit/>
          </a:bodyPr>
          <a:lstStyle/>
          <a:p>
            <a:pPr marL="457200" indent="-228600">
              <a:lnSpc>
                <a:spcPct val="110000"/>
              </a:lnSpc>
              <a:spcAft>
                <a:spcPts val="600"/>
              </a:spcAft>
              <a:buClr>
                <a:schemeClr val="accent4"/>
              </a:buClr>
              <a:buFont typeface="The Hand Extrablack" panose="03070A02030502020204" pitchFamily="66" charset="0"/>
              <a:buChar char="•"/>
            </a:pPr>
            <a:r>
              <a:rPr lang="en-US" sz="2400" spc="20" dirty="0">
                <a:solidFill>
                  <a:schemeClr val="tx1">
                    <a:alpha val="58000"/>
                  </a:schemeClr>
                </a:solidFill>
              </a:rPr>
              <a:t>Just Culture was originated in high-risk contexts such as aviation and healthcare.</a:t>
            </a:r>
          </a:p>
          <a:p>
            <a:pPr marL="457200" indent="-228600">
              <a:lnSpc>
                <a:spcPct val="110000"/>
              </a:lnSpc>
              <a:spcAft>
                <a:spcPts val="600"/>
              </a:spcAft>
              <a:buClr>
                <a:schemeClr val="accent4"/>
              </a:buClr>
              <a:buFont typeface="The Hand Extrablack" panose="03070A02030502020204" pitchFamily="66" charset="0"/>
              <a:buChar char="•"/>
            </a:pPr>
            <a:r>
              <a:rPr lang="en-US" sz="2400" spc="20" dirty="0">
                <a:solidFill>
                  <a:schemeClr val="tx1">
                    <a:alpha val="58000"/>
                  </a:schemeClr>
                </a:solidFill>
              </a:rPr>
              <a:t>The underlying idea is simple: to encourage people to report problems without fear of automatic punishment.</a:t>
            </a:r>
          </a:p>
          <a:p>
            <a:pPr marL="457200" indent="-228600">
              <a:lnSpc>
                <a:spcPct val="110000"/>
              </a:lnSpc>
              <a:spcAft>
                <a:spcPts val="600"/>
              </a:spcAft>
              <a:buClr>
                <a:schemeClr val="accent4"/>
              </a:buClr>
              <a:buFont typeface="The Hand Extrablack" panose="03070A02030502020204" pitchFamily="66" charset="0"/>
              <a:buChar char="•"/>
            </a:pPr>
            <a:r>
              <a:rPr lang="en-US" sz="2400" spc="20" dirty="0">
                <a:solidFill>
                  <a:schemeClr val="tx1">
                    <a:alpha val="58000"/>
                  </a:schemeClr>
                </a:solidFill>
              </a:rPr>
              <a:t>The goal of Just Culture is to foster transparency, learning, and prevention.</a:t>
            </a:r>
          </a:p>
          <a:p>
            <a:pPr marL="457200" indent="-228600">
              <a:lnSpc>
                <a:spcPct val="110000"/>
              </a:lnSpc>
              <a:spcAft>
                <a:spcPts val="600"/>
              </a:spcAft>
              <a:buClr>
                <a:schemeClr val="accent4"/>
              </a:buClr>
              <a:buFont typeface="The Hand Extrablack" panose="03070A02030502020204" pitchFamily="66" charset="0"/>
              <a:buChar char="•"/>
            </a:pPr>
            <a:r>
              <a:rPr lang="en-US" sz="2400" spc="20" dirty="0">
                <a:solidFill>
                  <a:schemeClr val="tx1">
                    <a:alpha val="58000"/>
                  </a:schemeClr>
                </a:solidFill>
              </a:rPr>
              <a:t>It’s a culture of accountability that distinguishes between honest mistakes and irresponsible behavior without necessarily seeking scapegoats. </a:t>
            </a:r>
          </a:p>
        </p:txBody>
      </p:sp>
      <p:sp>
        <p:nvSpPr>
          <p:cNvPr id="29"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632583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538B0665-5407-178B-14DC-57B9E23C0AFB}"/>
              </a:ext>
            </a:extLst>
          </p:cNvPr>
          <p:cNvSpPr>
            <a:spLocks noGrp="1"/>
          </p:cNvSpPr>
          <p:nvPr>
            <p:ph type="title"/>
          </p:nvPr>
        </p:nvSpPr>
        <p:spPr>
          <a:xfrm>
            <a:off x="720000" y="619200"/>
            <a:ext cx="6911974" cy="1477328"/>
          </a:xfrm>
        </p:spPr>
        <p:txBody>
          <a:bodyPr wrap="square" anchor="ctr">
            <a:normAutofit/>
          </a:bodyPr>
          <a:lstStyle/>
          <a:p>
            <a:pPr algn="ctr"/>
            <a:r>
              <a:rPr lang="en-US" dirty="0"/>
              <a:t>               Deeply Ingrained Blame    Culture and Fear</a:t>
            </a:r>
          </a:p>
        </p:txBody>
      </p:sp>
      <p:sp>
        <p:nvSpPr>
          <p:cNvPr id="3" name="Content Placeholder 2">
            <a:extLst>
              <a:ext uri="{FF2B5EF4-FFF2-40B4-BE49-F238E27FC236}">
                <a16:creationId xmlns:a16="http://schemas.microsoft.com/office/drawing/2014/main" id="{019E52C2-1CA7-D514-FE7A-4DDCB2654E35}"/>
              </a:ext>
            </a:extLst>
          </p:cNvPr>
          <p:cNvSpPr>
            <a:spLocks noGrp="1"/>
          </p:cNvSpPr>
          <p:nvPr>
            <p:ph idx="1"/>
          </p:nvPr>
        </p:nvSpPr>
        <p:spPr>
          <a:xfrm>
            <a:off x="720000" y="2541600"/>
            <a:ext cx="7060032" cy="3697200"/>
          </a:xfrm>
        </p:spPr>
        <p:txBody>
          <a:bodyPr>
            <a:normAutofit fontScale="92500"/>
          </a:bodyPr>
          <a:lstStyle/>
          <a:p>
            <a:r>
              <a:rPr lang="en-US" sz="2400" dirty="0">
                <a:latin typeface="Times New Roman" panose="02020603050405020304" pitchFamily="18" charset="0"/>
                <a:cs typeface="Times New Roman" panose="02020603050405020304" pitchFamily="18" charset="0"/>
              </a:rPr>
              <a:t>Often team members fear professional damage, demotion, or firing after a major production outage.</a:t>
            </a:r>
          </a:p>
          <a:p>
            <a:r>
              <a:rPr lang="en-US" sz="2400" dirty="0">
                <a:latin typeface="Times New Roman" panose="02020603050405020304" pitchFamily="18" charset="0"/>
                <a:cs typeface="Times New Roman" panose="02020603050405020304" pitchFamily="18" charset="0"/>
              </a:rPr>
              <a:t>Instead of asking “Who was at fault?” we start with “What went wrong?” to strengthen the system.</a:t>
            </a:r>
          </a:p>
          <a:p>
            <a:r>
              <a:rPr lang="en-US" sz="2400" dirty="0">
                <a:latin typeface="Times New Roman" panose="02020603050405020304" pitchFamily="18" charset="0"/>
                <a:cs typeface="Times New Roman" panose="02020603050405020304" pitchFamily="18" charset="0"/>
              </a:rPr>
              <a:t>In the context of cybersecurity, this approach is still now widely adopted, yet it is essential for building an organization capable of learning from incidents, reducing human error, and proactively addressing threats.</a:t>
            </a:r>
          </a:p>
          <a:p>
            <a:endParaRPr lang="en-US" sz="2400" dirty="0">
              <a:latin typeface="Times New Roman" panose="02020603050405020304" pitchFamily="18" charset="0"/>
              <a:cs typeface="Times New Roman" panose="02020603050405020304" pitchFamily="18" charset="0"/>
            </a:endParaRPr>
          </a:p>
        </p:txBody>
      </p:sp>
      <p:sp>
        <p:nvSpPr>
          <p:cNvPr id="14"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08629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D1CCC3C-EB52-47ED-B6AA-5F70D92155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84C50CF-FE9D-459C-890F-56C327795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Freeform: Shape 26">
            <a:extLst>
              <a:ext uri="{FF2B5EF4-FFF2-40B4-BE49-F238E27FC236}">
                <a16:creationId xmlns:a16="http://schemas.microsoft.com/office/drawing/2014/main" id="{79C4E6F9-8A11-4E94-8423-966E9DF0D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096624" cy="6858000"/>
          </a:xfrm>
          <a:custGeom>
            <a:avLst/>
            <a:gdLst>
              <a:gd name="connsiteX0" fmla="*/ 0 w 11096624"/>
              <a:gd name="connsiteY0" fmla="*/ 0 h 6858000"/>
              <a:gd name="connsiteX1" fmla="*/ 10869306 w 11096624"/>
              <a:gd name="connsiteY1" fmla="*/ 0 h 6858000"/>
              <a:gd name="connsiteX2" fmla="*/ 10932108 w 11096624"/>
              <a:gd name="connsiteY2" fmla="*/ 181114 h 6858000"/>
              <a:gd name="connsiteX3" fmla="*/ 10953136 w 11096624"/>
              <a:gd name="connsiteY3" fmla="*/ 3620675 h 6858000"/>
              <a:gd name="connsiteX4" fmla="*/ 9722723 w 11096624"/>
              <a:gd name="connsiteY4" fmla="*/ 6351879 h 6858000"/>
              <a:gd name="connsiteX5" fmla="*/ 9365083 w 11096624"/>
              <a:gd name="connsiteY5" fmla="*/ 6847267 h 6858000"/>
              <a:gd name="connsiteX6" fmla="*/ 9354506 w 11096624"/>
              <a:gd name="connsiteY6" fmla="*/ 6858000 h 6858000"/>
              <a:gd name="connsiteX7" fmla="*/ 0 w 11096624"/>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96624" h="6858000">
                <a:moveTo>
                  <a:pt x="0" y="0"/>
                </a:moveTo>
                <a:lnTo>
                  <a:pt x="10869306" y="0"/>
                </a:lnTo>
                <a:lnTo>
                  <a:pt x="10932108" y="181114"/>
                </a:lnTo>
                <a:cubicBezTo>
                  <a:pt x="11289577" y="1409141"/>
                  <a:pt x="10953136" y="3273767"/>
                  <a:pt x="10953136" y="3620675"/>
                </a:cubicBezTo>
                <a:cubicBezTo>
                  <a:pt x="10953136" y="5162483"/>
                  <a:pt x="10118214" y="5735156"/>
                  <a:pt x="9722723" y="6351879"/>
                </a:cubicBezTo>
                <a:cubicBezTo>
                  <a:pt x="9656808" y="6500554"/>
                  <a:pt x="9530643" y="6669361"/>
                  <a:pt x="9365083" y="6847267"/>
                </a:cubicBezTo>
                <a:lnTo>
                  <a:pt x="9354506" y="6858000"/>
                </a:lnTo>
                <a:lnTo>
                  <a:pt x="0" y="6858000"/>
                </a:lnTo>
                <a:close/>
              </a:path>
            </a:pathLst>
          </a:custGeom>
          <a:ln>
            <a:noFill/>
          </a:ln>
        </p:spPr>
        <p:txBody>
          <a:bodyPr vert="horz" wrap="square" lIns="91440" tIns="45720" rIns="91440" bIns="45720" numCol="1" anchor="t" anchorCtr="0" compatLnSpc="1">
            <a:prstTxWarp prst="textNoShape">
              <a:avLst/>
            </a:prstTxWarp>
            <a:noAutofit/>
          </a:bodyPr>
          <a:lstStyle/>
          <a:p>
            <a:endParaRPr lang="en-US">
              <a:solidFill>
                <a:schemeClr val="tx1"/>
              </a:solidFill>
            </a:endParaRPr>
          </a:p>
        </p:txBody>
      </p:sp>
      <p:sp>
        <p:nvSpPr>
          <p:cNvPr id="3" name="Content Placeholder 2">
            <a:extLst>
              <a:ext uri="{FF2B5EF4-FFF2-40B4-BE49-F238E27FC236}">
                <a16:creationId xmlns:a16="http://schemas.microsoft.com/office/drawing/2014/main" id="{ACCB45EA-4FF4-F20A-8B02-C1EFF42ECBBE}"/>
              </a:ext>
            </a:extLst>
          </p:cNvPr>
          <p:cNvSpPr>
            <a:spLocks noGrp="1"/>
          </p:cNvSpPr>
          <p:nvPr>
            <p:ph idx="1"/>
          </p:nvPr>
        </p:nvSpPr>
        <p:spPr>
          <a:xfrm>
            <a:off x="342900" y="485776"/>
            <a:ext cx="7658099" cy="5972174"/>
          </a:xfrm>
        </p:spPr>
        <p:txBody>
          <a:bodyPr>
            <a:normAutofit/>
          </a:bodyPr>
          <a:lstStyle/>
          <a:p>
            <a:pPr>
              <a:lnSpc>
                <a:spcPct val="110000"/>
              </a:lnSpc>
            </a:pPr>
            <a:r>
              <a:rPr lang="en-US" sz="2400" dirty="0">
                <a:latin typeface="Times New Roman" panose="02020603050405020304" pitchFamily="18" charset="0"/>
                <a:cs typeface="Times New Roman" panose="02020603050405020304" pitchFamily="18" charset="0"/>
              </a:rPr>
              <a:t>Just Culture teaches that human error is never solely personal but rather stems from latent conditions for error embedded within procedures, technologies, and corporate culture.</a:t>
            </a:r>
          </a:p>
          <a:p>
            <a:pPr>
              <a:lnSpc>
                <a:spcPct val="110000"/>
              </a:lnSpc>
            </a:pPr>
            <a:r>
              <a:rPr lang="en-US" sz="2400" dirty="0">
                <a:latin typeface="Times New Roman" panose="02020603050405020304" pitchFamily="18" charset="0"/>
                <a:cs typeface="Times New Roman" panose="02020603050405020304" pitchFamily="18" charset="0"/>
              </a:rPr>
              <a:t>Blaming someone without analyzing the context means missing an opportunity to learn and improve. </a:t>
            </a:r>
          </a:p>
          <a:p>
            <a:pPr>
              <a:lnSpc>
                <a:spcPct val="110000"/>
              </a:lnSpc>
            </a:pPr>
            <a:r>
              <a:rPr lang="en-US" sz="2400" dirty="0">
                <a:latin typeface="Times New Roman" panose="02020603050405020304" pitchFamily="18" charset="0"/>
                <a:cs typeface="Times New Roman" panose="02020603050405020304" pitchFamily="18" charset="0"/>
              </a:rPr>
              <a:t>When you adopt Just Culture, you create more trust, more reporting by making people feel safe reporting vulnerabilities and near-misses. Every incident is a chance to learn and improve.</a:t>
            </a:r>
          </a:p>
          <a:p>
            <a:pPr>
              <a:lnSpc>
                <a:spcPct val="110000"/>
              </a:lnSpc>
            </a:pPr>
            <a:r>
              <a:rPr lang="en-US" sz="2400" dirty="0">
                <a:latin typeface="Times New Roman" panose="02020603050405020304" pitchFamily="18" charset="0"/>
                <a:cs typeface="Times New Roman" panose="02020603050405020304" pitchFamily="18" charset="0"/>
              </a:rPr>
              <a:t>Cybersecurity is not the responsibility of IT or the SOC alone. Everyone-developers, managers, HR- need to be involved.</a:t>
            </a:r>
          </a:p>
        </p:txBody>
      </p:sp>
      <p:pic>
        <p:nvPicPr>
          <p:cNvPr id="7" name="Graphic 6" descr="Group">
            <a:extLst>
              <a:ext uri="{FF2B5EF4-FFF2-40B4-BE49-F238E27FC236}">
                <a16:creationId xmlns:a16="http://schemas.microsoft.com/office/drawing/2014/main" id="{EB8D6C38-4897-88E0-8CD0-28C4A72E50B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76376" y="1876856"/>
            <a:ext cx="3095625" cy="3095625"/>
          </a:xfrm>
          <a:custGeom>
            <a:avLst/>
            <a:gdLst/>
            <a:ahLst/>
            <a:cxnLst/>
            <a:rect l="l" t="t" r="r" b="b"/>
            <a:pathLst>
              <a:path w="3095625" h="5409338">
                <a:moveTo>
                  <a:pt x="0" y="0"/>
                </a:moveTo>
                <a:lnTo>
                  <a:pt x="3095625" y="0"/>
                </a:lnTo>
                <a:lnTo>
                  <a:pt x="3095625" y="5409338"/>
                </a:lnTo>
                <a:lnTo>
                  <a:pt x="0" y="5409338"/>
                </a:lnTo>
                <a:close/>
              </a:path>
            </a:pathLst>
          </a:custGeom>
        </p:spPr>
      </p:pic>
    </p:spTree>
    <p:extLst>
      <p:ext uri="{BB962C8B-B14F-4D97-AF65-F5344CB8AC3E}">
        <p14:creationId xmlns:p14="http://schemas.microsoft.com/office/powerpoint/2010/main" val="198812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ust Culture is an organizational framework that aims to create an  environment of trust, learning, and accountability within a workplace. It  emphasizes the balance between learning from mistakes and… | Dr Grace">
            <a:extLst>
              <a:ext uri="{FF2B5EF4-FFF2-40B4-BE49-F238E27FC236}">
                <a16:creationId xmlns:a16="http://schemas.microsoft.com/office/drawing/2014/main" id="{B154845D-00F7-555C-3903-34DA6B2FA08C}"/>
              </a:ext>
            </a:extLst>
          </p:cNvPr>
          <p:cNvPicPr>
            <a:picLocks noChangeAspect="1"/>
          </p:cNvPicPr>
          <p:nvPr/>
        </p:nvPicPr>
        <p:blipFill>
          <a:blip r:embed="rId2"/>
          <a:stretch>
            <a:fillRect/>
          </a:stretch>
        </p:blipFill>
        <p:spPr>
          <a:xfrm>
            <a:off x="3086100" y="125105"/>
            <a:ext cx="6526212" cy="6607790"/>
          </a:xfrm>
          <a:prstGeom prst="rect">
            <a:avLst/>
          </a:prstGeom>
        </p:spPr>
      </p:pic>
    </p:spTree>
    <p:extLst>
      <p:ext uri="{BB962C8B-B14F-4D97-AF65-F5344CB8AC3E}">
        <p14:creationId xmlns:p14="http://schemas.microsoft.com/office/powerpoint/2010/main" val="2430299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67E96ACE-A56D-6915-6A8A-BF289230C383}"/>
              </a:ext>
            </a:extLst>
          </p:cNvPr>
          <p:cNvSpPr>
            <a:spLocks noGrp="1"/>
          </p:cNvSpPr>
          <p:nvPr>
            <p:ph type="title"/>
          </p:nvPr>
        </p:nvSpPr>
        <p:spPr>
          <a:xfrm>
            <a:off x="720000" y="619200"/>
            <a:ext cx="6911974" cy="1477328"/>
          </a:xfrm>
        </p:spPr>
        <p:txBody>
          <a:bodyPr wrap="square" anchor="ctr">
            <a:normAutofit/>
          </a:bodyPr>
          <a:lstStyle/>
          <a:p>
            <a:r>
              <a:rPr lang="en-US" dirty="0"/>
              <a:t>Deda Tech’s approach: Red Button</a:t>
            </a:r>
            <a:endParaRPr lang="en-US"/>
          </a:p>
        </p:txBody>
      </p:sp>
      <p:sp>
        <p:nvSpPr>
          <p:cNvPr id="3" name="Content Placeholder 2">
            <a:extLst>
              <a:ext uri="{FF2B5EF4-FFF2-40B4-BE49-F238E27FC236}">
                <a16:creationId xmlns:a16="http://schemas.microsoft.com/office/drawing/2014/main" id="{C5500000-86ED-42A6-D44A-A1C51DA0D513}"/>
              </a:ext>
            </a:extLst>
          </p:cNvPr>
          <p:cNvSpPr>
            <a:spLocks noGrp="1"/>
          </p:cNvSpPr>
          <p:nvPr>
            <p:ph idx="1"/>
          </p:nvPr>
        </p:nvSpPr>
        <p:spPr>
          <a:xfrm>
            <a:off x="720000" y="1900948"/>
            <a:ext cx="6911975" cy="4128377"/>
          </a:xfrm>
        </p:spPr>
        <p:txBody>
          <a:bodyPr>
            <a:noAutofit/>
          </a:bodyPr>
          <a:lstStyle/>
          <a:p>
            <a:r>
              <a:rPr lang="en-US" sz="2400" dirty="0"/>
              <a:t>Deda Tech has transformed Just Culture into a concrete service. Red Button is an intervention and coordination model that goes beyond the technical response. </a:t>
            </a:r>
          </a:p>
          <a:p>
            <a:r>
              <a:rPr lang="en-US" sz="2400" dirty="0"/>
              <a:t>Red Button does not merely resolve attacks: it analyzes, learns, and helps organizations evolve. </a:t>
            </a:r>
          </a:p>
          <a:p>
            <a:r>
              <a:rPr lang="en-US" sz="2400" dirty="0"/>
              <a:t>It does not seek culprits, but solutions. It doesn’t just put out fires but builds prevention.</a:t>
            </a:r>
          </a:p>
        </p:txBody>
      </p:sp>
      <p:sp>
        <p:nvSpPr>
          <p:cNvPr id="14"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4101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E9D6223-8D87-4038-BE74-D5224B024F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46FBF49-EC0D-4E09-A77B-DB4E8257E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lumOff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3AA13D0-BF0A-4B8F-9FD6-CAE2DCD93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 y="0"/>
            <a:ext cx="9705717" cy="6858000"/>
          </a:xfrm>
          <a:custGeom>
            <a:avLst/>
            <a:gdLst>
              <a:gd name="connsiteX0" fmla="*/ 0 w 9705717"/>
              <a:gd name="connsiteY0" fmla="*/ 0 h 6858000"/>
              <a:gd name="connsiteX1" fmla="*/ 8892014 w 9705717"/>
              <a:gd name="connsiteY1" fmla="*/ 0 h 6858000"/>
              <a:gd name="connsiteX2" fmla="*/ 8948109 w 9705717"/>
              <a:gd name="connsiteY2" fmla="*/ 119185 h 6858000"/>
              <a:gd name="connsiteX3" fmla="*/ 9361712 w 9705717"/>
              <a:gd name="connsiteY3" fmla="*/ 1009060 h 6858000"/>
              <a:gd name="connsiteX4" fmla="*/ 9569814 w 9705717"/>
              <a:gd name="connsiteY4" fmla="*/ 4722415 h 6858000"/>
              <a:gd name="connsiteX5" fmla="*/ 8937785 w 9705717"/>
              <a:gd name="connsiteY5" fmla="*/ 6619105 h 6858000"/>
              <a:gd name="connsiteX6" fmla="*/ 8749280 w 9705717"/>
              <a:gd name="connsiteY6" fmla="*/ 6858000 h 6858000"/>
              <a:gd name="connsiteX7" fmla="*/ 0 w 9705717"/>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5717" h="6858000">
                <a:moveTo>
                  <a:pt x="0" y="0"/>
                </a:moveTo>
                <a:lnTo>
                  <a:pt x="8892014" y="0"/>
                </a:lnTo>
                <a:lnTo>
                  <a:pt x="8948109" y="119185"/>
                </a:lnTo>
                <a:cubicBezTo>
                  <a:pt x="9080774" y="406683"/>
                  <a:pt x="9216041" y="706568"/>
                  <a:pt x="9361712" y="1009060"/>
                </a:cubicBezTo>
                <a:cubicBezTo>
                  <a:pt x="9986018" y="2093861"/>
                  <a:pt x="9569814" y="4346908"/>
                  <a:pt x="9569814" y="4722415"/>
                </a:cubicBezTo>
                <a:cubicBezTo>
                  <a:pt x="9569814" y="5635108"/>
                  <a:pt x="9260912" y="6189243"/>
                  <a:pt x="8937785" y="6619105"/>
                </a:cubicBezTo>
                <a:lnTo>
                  <a:pt x="8749280" y="6858000"/>
                </a:lnTo>
                <a:lnTo>
                  <a:pt x="0" y="6858000"/>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Title 1">
            <a:extLst>
              <a:ext uri="{FF2B5EF4-FFF2-40B4-BE49-F238E27FC236}">
                <a16:creationId xmlns:a16="http://schemas.microsoft.com/office/drawing/2014/main" id="{9846DAFD-69D5-1B37-74C6-3E0B337771C9}"/>
              </a:ext>
            </a:extLst>
          </p:cNvPr>
          <p:cNvSpPr>
            <a:spLocks noGrp="1"/>
          </p:cNvSpPr>
          <p:nvPr>
            <p:ph type="title"/>
          </p:nvPr>
        </p:nvSpPr>
        <p:spPr>
          <a:xfrm>
            <a:off x="720000" y="619200"/>
            <a:ext cx="6911974" cy="1477328"/>
          </a:xfrm>
        </p:spPr>
        <p:txBody>
          <a:bodyPr wrap="square" anchor="ctr">
            <a:normAutofit/>
          </a:bodyPr>
          <a:lstStyle/>
          <a:p>
            <a:r>
              <a:rPr lang="en-US" dirty="0"/>
              <a:t> Major Challenges</a:t>
            </a:r>
            <a:endParaRPr lang="en-US"/>
          </a:p>
        </p:txBody>
      </p:sp>
      <p:sp>
        <p:nvSpPr>
          <p:cNvPr id="3" name="Content Placeholder 2">
            <a:extLst>
              <a:ext uri="{FF2B5EF4-FFF2-40B4-BE49-F238E27FC236}">
                <a16:creationId xmlns:a16="http://schemas.microsoft.com/office/drawing/2014/main" id="{C41D6664-C07E-F93F-3328-6B0BA522E087}"/>
              </a:ext>
            </a:extLst>
          </p:cNvPr>
          <p:cNvSpPr>
            <a:spLocks noGrp="1"/>
          </p:cNvSpPr>
          <p:nvPr>
            <p:ph idx="1"/>
          </p:nvPr>
        </p:nvSpPr>
        <p:spPr>
          <a:xfrm>
            <a:off x="377162" y="1900948"/>
            <a:ext cx="7254813" cy="3856926"/>
          </a:xfrm>
        </p:spPr>
        <p:txBody>
          <a:bodyPr>
            <a:normAutofit lnSpcReduction="10000"/>
          </a:bodyPr>
          <a:lstStyle/>
          <a:p>
            <a:pPr>
              <a:lnSpc>
                <a:spcPct val="110000"/>
              </a:lnSpc>
            </a:pPr>
            <a:r>
              <a:rPr lang="en-US" sz="2400" dirty="0">
                <a:latin typeface="Times New Roman" panose="02020603050405020304" pitchFamily="18" charset="0"/>
                <a:cs typeface="Times New Roman" panose="02020603050405020304" pitchFamily="18" charset="0"/>
              </a:rPr>
              <a:t>There are some major barriers to creating a Just Culture.</a:t>
            </a:r>
          </a:p>
          <a:p>
            <a:pPr>
              <a:lnSpc>
                <a:spcPct val="110000"/>
              </a:lnSpc>
            </a:pPr>
            <a:r>
              <a:rPr lang="en-US" sz="2400" dirty="0">
                <a:latin typeface="Times New Roman" panose="02020603050405020304" pitchFamily="18" charset="0"/>
                <a:cs typeface="Times New Roman" panose="02020603050405020304" pitchFamily="18" charset="0"/>
              </a:rPr>
              <a:t>Blame: When things go wrong, humans have the tendency to want to blame the people involved.</a:t>
            </a:r>
          </a:p>
          <a:p>
            <a:pPr>
              <a:lnSpc>
                <a:spcPct val="110000"/>
              </a:lnSpc>
            </a:pPr>
            <a:r>
              <a:rPr lang="en-US" sz="2400" dirty="0">
                <a:latin typeface="Times New Roman" panose="02020603050405020304" pitchFamily="18" charset="0"/>
                <a:cs typeface="Times New Roman" panose="02020603050405020304" pitchFamily="18" charset="0"/>
              </a:rPr>
              <a:t>Outcome Bias: Humans allow the outcome of a situation to influence the decision about what an appropriate response is for the people involved.</a:t>
            </a:r>
          </a:p>
          <a:p>
            <a:pPr>
              <a:lnSpc>
                <a:spcPct val="110000"/>
              </a:lnSpc>
            </a:pPr>
            <a:r>
              <a:rPr lang="en-US" sz="2400" dirty="0">
                <a:latin typeface="Times New Roman" panose="02020603050405020304" pitchFamily="18" charset="0"/>
                <a:cs typeface="Times New Roman" panose="02020603050405020304" pitchFamily="18" charset="0"/>
              </a:rPr>
              <a:t>Lack of Openness: Team members are scared to come forward when mistakes are made, and how it will impact them.</a:t>
            </a:r>
          </a:p>
          <a:p>
            <a:pPr>
              <a:lnSpc>
                <a:spcPct val="110000"/>
              </a:lnSpc>
            </a:pPr>
            <a:endParaRPr lang="en-US" sz="1700" dirty="0"/>
          </a:p>
          <a:p>
            <a:pPr>
              <a:lnSpc>
                <a:spcPct val="110000"/>
              </a:lnSpc>
            </a:pPr>
            <a:endParaRPr lang="en-US" sz="1700" dirty="0"/>
          </a:p>
        </p:txBody>
      </p:sp>
      <p:sp>
        <p:nvSpPr>
          <p:cNvPr id="14" name="Freeform 10">
            <a:extLst>
              <a:ext uri="{FF2B5EF4-FFF2-40B4-BE49-F238E27FC236}">
                <a16:creationId xmlns:a16="http://schemas.microsoft.com/office/drawing/2014/main" id="{15BE2CF8-7196-4BC3-B312-B0EE486D9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5824556">
            <a:off x="8226571" y="2916066"/>
            <a:ext cx="3518890" cy="3293724"/>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72318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e Power of Just Culture: Killing the Blame Game ‣ Pilots Who Ask Why">
            <a:extLst>
              <a:ext uri="{FF2B5EF4-FFF2-40B4-BE49-F238E27FC236}">
                <a16:creationId xmlns:a16="http://schemas.microsoft.com/office/drawing/2014/main" id="{427A4553-069B-C5FD-0ECB-0547B8CCB1A6}"/>
              </a:ext>
            </a:extLst>
          </p:cNvPr>
          <p:cNvPicPr>
            <a:picLocks noChangeAspect="1"/>
          </p:cNvPicPr>
          <p:nvPr/>
        </p:nvPicPr>
        <p:blipFill>
          <a:blip r:embed="rId2"/>
          <a:stretch>
            <a:fillRect/>
          </a:stretch>
        </p:blipFill>
        <p:spPr>
          <a:xfrm>
            <a:off x="1290268" y="459547"/>
            <a:ext cx="9611464" cy="5777678"/>
          </a:xfrm>
          <a:prstGeom prst="rect">
            <a:avLst/>
          </a:prstGeom>
        </p:spPr>
      </p:pic>
    </p:spTree>
    <p:extLst>
      <p:ext uri="{BB962C8B-B14F-4D97-AF65-F5344CB8AC3E}">
        <p14:creationId xmlns:p14="http://schemas.microsoft.com/office/powerpoint/2010/main" val="1757346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C7BE1-30D4-DAC7-C220-5F9851DAB780}"/>
              </a:ext>
            </a:extLst>
          </p:cNvPr>
          <p:cNvSpPr>
            <a:spLocks noGrp="1"/>
          </p:cNvSpPr>
          <p:nvPr>
            <p:ph type="title"/>
          </p:nvPr>
        </p:nvSpPr>
        <p:spPr/>
        <p:txBody>
          <a:bodyPr/>
          <a:lstStyle/>
          <a:p>
            <a:r>
              <a:rPr lang="en-US" dirty="0"/>
              <a:t>How To Achieve Just Culture</a:t>
            </a:r>
          </a:p>
        </p:txBody>
      </p:sp>
      <p:sp>
        <p:nvSpPr>
          <p:cNvPr id="3" name="Content Placeholder 2">
            <a:extLst>
              <a:ext uri="{FF2B5EF4-FFF2-40B4-BE49-F238E27FC236}">
                <a16:creationId xmlns:a16="http://schemas.microsoft.com/office/drawing/2014/main" id="{4FC653AE-2785-7CFF-3415-E73788D405CD}"/>
              </a:ext>
            </a:extLst>
          </p:cNvPr>
          <p:cNvSpPr>
            <a:spLocks noGrp="1"/>
          </p:cNvSpPr>
          <p:nvPr>
            <p:ph idx="1"/>
          </p:nvPr>
        </p:nvSpPr>
        <p:spPr>
          <a:xfrm>
            <a:off x="720000" y="1543050"/>
            <a:ext cx="10728325" cy="4225925"/>
          </a:xfrm>
        </p:spPr>
        <p:txBody>
          <a:bodyPr>
            <a:normAutofit/>
          </a:bodyPr>
          <a:lstStyle/>
          <a:p>
            <a:r>
              <a:rPr lang="en-US" sz="2400" dirty="0">
                <a:latin typeface="Times New Roman" panose="02020603050405020304" pitchFamily="18" charset="0"/>
                <a:cs typeface="Times New Roman" panose="02020603050405020304" pitchFamily="18" charset="0"/>
              </a:rPr>
              <a:t>Almost three-quarters of complicated, large-scale change programs fail to reach their goals. This is partly due to employee resistance or not having enough knowledge of tools to execute.  As well as: </a:t>
            </a:r>
          </a:p>
          <a:p>
            <a:r>
              <a:rPr lang="en-US" sz="2400" dirty="0">
                <a:latin typeface="Times New Roman" panose="02020603050405020304" pitchFamily="18" charset="0"/>
                <a:cs typeface="Times New Roman" panose="02020603050405020304" pitchFamily="18" charset="0"/>
              </a:rPr>
              <a:t>Encourage Emotional Awareness</a:t>
            </a:r>
          </a:p>
          <a:p>
            <a:r>
              <a:rPr lang="en-US" sz="2400" dirty="0">
                <a:latin typeface="Times New Roman" panose="02020603050405020304" pitchFamily="18" charset="0"/>
                <a:cs typeface="Times New Roman" panose="02020603050405020304" pitchFamily="18" charset="0"/>
              </a:rPr>
              <a:t>Respond Appropriately to Mistakes</a:t>
            </a:r>
          </a:p>
          <a:p>
            <a:r>
              <a:rPr lang="en-US" sz="2400" dirty="0">
                <a:latin typeface="Times New Roman" panose="02020603050405020304" pitchFamily="18" charset="0"/>
                <a:cs typeface="Times New Roman" panose="02020603050405020304" pitchFamily="18" charset="0"/>
              </a:rPr>
              <a:t>Inspire with Vision</a:t>
            </a:r>
          </a:p>
          <a:p>
            <a:r>
              <a:rPr lang="en-US" sz="2400" dirty="0">
                <a:latin typeface="Times New Roman" panose="02020603050405020304" pitchFamily="18" charset="0"/>
                <a:cs typeface="Times New Roman" panose="02020603050405020304" pitchFamily="18" charset="0"/>
              </a:rPr>
              <a:t>Secure Buy-In as Early as Possible</a:t>
            </a:r>
          </a:p>
          <a:p>
            <a:r>
              <a:rPr lang="en-US" sz="2400" dirty="0">
                <a:latin typeface="Times New Roman" panose="02020603050405020304" pitchFamily="18" charset="0"/>
                <a:cs typeface="Times New Roman" panose="02020603050405020304" pitchFamily="18" charset="0"/>
              </a:rPr>
              <a:t>Follow the PIKES Model: Purpose, Integration, Knowledge, Ecosystem, and Self</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866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C45F1-88CC-CEED-F7CB-E70D5F9D481B}"/>
              </a:ext>
            </a:extLst>
          </p:cNvPr>
          <p:cNvSpPr>
            <a:spLocks noGrp="1"/>
          </p:cNvSpPr>
          <p:nvPr>
            <p:ph type="title"/>
          </p:nvPr>
        </p:nvSpPr>
        <p:spPr>
          <a:xfrm>
            <a:off x="514350" y="619200"/>
            <a:ext cx="10933972" cy="1095300"/>
          </a:xfrm>
        </p:spPr>
        <p:txBody>
          <a:bodyPr>
            <a:normAutofit/>
          </a:bodyPr>
          <a:lstStyle/>
          <a:p>
            <a:pPr algn="ctr"/>
            <a:r>
              <a:rPr lang="en-US" sz="3600" dirty="0"/>
              <a:t>References:</a:t>
            </a:r>
          </a:p>
        </p:txBody>
      </p:sp>
      <p:sp>
        <p:nvSpPr>
          <p:cNvPr id="3" name="Content Placeholder 2">
            <a:extLst>
              <a:ext uri="{FF2B5EF4-FFF2-40B4-BE49-F238E27FC236}">
                <a16:creationId xmlns:a16="http://schemas.microsoft.com/office/drawing/2014/main" id="{24058D21-45A5-C1AF-4CC4-0E91938082CF}"/>
              </a:ext>
            </a:extLst>
          </p:cNvPr>
          <p:cNvSpPr>
            <a:spLocks noGrp="1"/>
          </p:cNvSpPr>
          <p:nvPr>
            <p:ph idx="1"/>
          </p:nvPr>
        </p:nvSpPr>
        <p:spPr>
          <a:xfrm>
            <a:off x="743678" y="1714500"/>
            <a:ext cx="10704647" cy="4054475"/>
          </a:xfrm>
        </p:spPr>
        <p:txBody>
          <a:bodyPr>
            <a:normAutofit/>
          </a:bodyPr>
          <a:lstStyle/>
          <a:p>
            <a:r>
              <a:rPr lang="en-US" sz="2400" dirty="0">
                <a:hlinkClick r:id="rId2"/>
              </a:rPr>
              <a:t>https://justculture.hqa.ca/overcoming-barriers-to-a-just-culture/</a:t>
            </a:r>
            <a:endParaRPr lang="en-US" sz="2400" dirty="0"/>
          </a:p>
          <a:p>
            <a:r>
              <a:rPr lang="en-US" sz="2400" dirty="0">
                <a:hlinkClick r:id="rId3"/>
              </a:rPr>
              <a:t>https://www.deda.com/insights/blog/cybersecurity-and-just-culture</a:t>
            </a:r>
            <a:endParaRPr lang="en-US" sz="2400" dirty="0"/>
          </a:p>
          <a:p>
            <a:r>
              <a:rPr lang="en-US" sz="2400" dirty="0">
                <a:hlinkClick r:id="rId4"/>
              </a:rPr>
              <a:t>https://kbmax.com/engineer-to-order-software-overcoming-the-5-big-barriers-to-adoption/</a:t>
            </a:r>
            <a:endParaRPr lang="en-US" sz="2400" dirty="0"/>
          </a:p>
          <a:p>
            <a:r>
              <a:rPr lang="en-US" sz="2400" dirty="0">
                <a:hlinkClick r:id="rId5"/>
              </a:rPr>
              <a:t>https://blog.codacy.com/quality-oriented-culture</a:t>
            </a:r>
            <a:r>
              <a:rPr lang="en-US" sz="2400" dirty="0"/>
              <a:t> </a:t>
            </a:r>
          </a:p>
        </p:txBody>
      </p:sp>
    </p:spTree>
    <p:extLst>
      <p:ext uri="{BB962C8B-B14F-4D97-AF65-F5344CB8AC3E}">
        <p14:creationId xmlns:p14="http://schemas.microsoft.com/office/powerpoint/2010/main" val="2676127331"/>
      </p:ext>
    </p:extLst>
  </p:cSld>
  <p:clrMapOvr>
    <a:masterClrMapping/>
  </p:clrMapOvr>
</p:sld>
</file>

<file path=ppt/theme/theme1.xml><?xml version="1.0" encoding="utf-8"?>
<a:theme xmlns:a="http://schemas.openxmlformats.org/drawingml/2006/main" name="BlobVTI">
  <a:themeElements>
    <a:clrScheme name="Blob V2">
      <a:dk1>
        <a:sysClr val="windowText" lastClr="000000"/>
      </a:dk1>
      <a:lt1>
        <a:sysClr val="window" lastClr="FFFFFF"/>
      </a:lt1>
      <a:dk2>
        <a:srgbClr val="0B2827"/>
      </a:dk2>
      <a:lt2>
        <a:srgbClr val="DAE3E3"/>
      </a:lt2>
      <a:accent1>
        <a:srgbClr val="B495C2"/>
      </a:accent1>
      <a:accent2>
        <a:srgbClr val="767E37"/>
      </a:accent2>
      <a:accent3>
        <a:srgbClr val="8FA3A3"/>
      </a:accent3>
      <a:accent4>
        <a:srgbClr val="CE7F01"/>
      </a:accent4>
      <a:accent5>
        <a:srgbClr val="D15A29"/>
      </a:accent5>
      <a:accent6>
        <a:srgbClr val="B88470"/>
      </a:accent6>
      <a:hlink>
        <a:srgbClr val="B57001"/>
      </a:hlink>
      <a:folHlink>
        <a:srgbClr val="996209"/>
      </a:folHlink>
    </a:clrScheme>
    <a:fontScheme name="Blob">
      <a:majorFont>
        <a:latin typeface="Sagona Book"/>
        <a:ea typeface=""/>
        <a:cs typeface=""/>
      </a:majorFont>
      <a:minorFont>
        <a:latin typeface="Avenir Next LT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bVTI" id="{06D3AACF-B619-4265-899F-5E2FB3A445D5}" vid="{F5918863-BA1A-4735-81A8-3E7BFBDA8478}"/>
    </a:ext>
  </a:extLst>
</a:theme>
</file>

<file path=docProps/app.xml><?xml version="1.0" encoding="utf-8"?>
<Properties xmlns="http://schemas.openxmlformats.org/officeDocument/2006/extended-properties" xmlns:vt="http://schemas.openxmlformats.org/officeDocument/2006/docPropsVTypes">
  <TotalTime>3090</TotalTime>
  <Words>596</Words>
  <Application>Microsoft Macintosh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Avenir Next LT Pro</vt:lpstr>
      <vt:lpstr>Sagona Book</vt:lpstr>
      <vt:lpstr>The Hand Extrablack</vt:lpstr>
      <vt:lpstr>Times New Roman</vt:lpstr>
      <vt:lpstr>BlobVTI</vt:lpstr>
      <vt:lpstr>Just Culture</vt:lpstr>
      <vt:lpstr>PowerPoint Presentation</vt:lpstr>
      <vt:lpstr>What is a “Just Culture”?</vt:lpstr>
      <vt:lpstr>               Deeply Ingrained Blame    Culture and Fear</vt:lpstr>
      <vt:lpstr>PowerPoint Presentation</vt:lpstr>
      <vt:lpstr>PowerPoint Presentation</vt:lpstr>
      <vt:lpstr>Deda Tech’s approach: Red Button</vt:lpstr>
      <vt:lpstr> Major Challenges</vt:lpstr>
      <vt:lpstr>PowerPoint Presentation</vt:lpstr>
      <vt:lpstr>How To Achieve Just Culture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Vanessa Espino</dc:creator>
  <cp:lastModifiedBy>Vanessa Espino</cp:lastModifiedBy>
  <cp:revision>7</cp:revision>
  <dcterms:created xsi:type="dcterms:W3CDTF">2026-09-25T20:50:58Z</dcterms:created>
  <dcterms:modified xsi:type="dcterms:W3CDTF">2026-09-28T00:21:58Z</dcterms:modified>
</cp:coreProperties>
</file>