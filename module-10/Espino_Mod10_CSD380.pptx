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7"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1483"/>
  </p:normalViewPr>
  <p:slideViewPr>
    <p:cSldViewPr snapToGrid="0">
      <p:cViewPr varScale="1">
        <p:scale>
          <a:sx n="46" d="100"/>
          <a:sy n="46" d="100"/>
        </p:scale>
        <p:origin x="31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dirty="0"/>
              <a:t>Click to edit Master title style</a:t>
            </a:r>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Saturday, October 3, 2026</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54592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Saturday, October 3, 2026</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043775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Saturday, October 3, 2026</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948637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Saturday, October 3, 2026</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682294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Saturday, October 3, 2026</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033615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Saturday, October 3, 2026</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346321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Saturday, October 3, 2026</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59768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Saturday, October 3, 2026</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971696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Saturday, October 3, 2026</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97982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Saturday, October 3, 2026</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414905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Saturday, October 3, 2026</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544428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Saturday, October 3, 2026</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249894507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harness.io/harness-devops-academy/what-is-code-repository-security" TargetMode="External"/><Relationship Id="rId2" Type="http://schemas.openxmlformats.org/officeDocument/2006/relationships/hyperlink" Target="https://www.harness.io/harness-devops-academy/secure-code-repositories-best-practices" TargetMode="External"/><Relationship Id="rId1" Type="http://schemas.openxmlformats.org/officeDocument/2006/relationships/slideLayout" Target="../slideLayouts/slideLayout2.xml"/><Relationship Id="rId5" Type="http://schemas.openxmlformats.org/officeDocument/2006/relationships/hyperlink" Target="https://snyk.io/articles/securing-source-code-repositories/" TargetMode="External"/><Relationship Id="rId4" Type="http://schemas.openxmlformats.org/officeDocument/2006/relationships/hyperlink" Target="https://get.assembla.com/blog/source-code-securit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6F292AA-C8DB-4CAA-97C9-456CF8540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F149D1F-0E74-7581-37E0-492E94177A6C}"/>
              </a:ext>
            </a:extLst>
          </p:cNvPr>
          <p:cNvPicPr>
            <a:picLocks noChangeAspect="1"/>
          </p:cNvPicPr>
          <p:nvPr/>
        </p:nvPicPr>
        <p:blipFill>
          <a:blip r:embed="rId2"/>
          <a:srcRect l="38024" r="23677" b="1"/>
          <a:stretch>
            <a:fillRect/>
          </a:stretch>
        </p:blipFill>
        <p:spPr>
          <a:xfrm>
            <a:off x="-1" y="10"/>
            <a:ext cx="4587901" cy="6857990"/>
          </a:xfrm>
          <a:prstGeom prst="rect">
            <a:avLst/>
          </a:prstGeom>
        </p:spPr>
      </p:pic>
      <p:sp>
        <p:nvSpPr>
          <p:cNvPr id="11" name="Rectangle 10">
            <a:extLst>
              <a:ext uri="{FF2B5EF4-FFF2-40B4-BE49-F238E27FC236}">
                <a16:creationId xmlns:a16="http://schemas.microsoft.com/office/drawing/2014/main" id="{AA065953-3D69-4CD4-80C3-DF10DEB4C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902" y="-429"/>
            <a:ext cx="7604097" cy="6857571"/>
          </a:xfrm>
          <a:prstGeom prst="rect">
            <a:avLst/>
          </a:prstGeom>
          <a:gradFill>
            <a:gsLst>
              <a:gs pos="0">
                <a:schemeClr val="accent6">
                  <a:lumMod val="75000"/>
                  <a:alpha val="73000"/>
                </a:schemeClr>
              </a:gs>
              <a:gs pos="100000">
                <a:schemeClr val="accent2"/>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B36DB5-F10D-4EDB-87E2-ECB9301FF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901" y="0"/>
            <a:ext cx="7604097" cy="6858000"/>
          </a:xfrm>
          <a:prstGeom prst="rect">
            <a:avLst/>
          </a:prstGeom>
          <a:gradFill>
            <a:gsLst>
              <a:gs pos="0">
                <a:schemeClr val="accent5">
                  <a:alpha val="37000"/>
                </a:schemeClr>
              </a:gs>
              <a:gs pos="98000">
                <a:schemeClr val="accent2">
                  <a:alpha val="66000"/>
                </a:scheme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46F195D-95DC-419E-BBC1-E2B601A60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599847" y="4355164"/>
            <a:ext cx="7592151" cy="2502836"/>
          </a:xfrm>
          <a:prstGeom prst="rect">
            <a:avLst/>
          </a:prstGeom>
          <a:gradFill>
            <a:gsLst>
              <a:gs pos="22000">
                <a:schemeClr val="accent6">
                  <a:alpha val="39000"/>
                </a:schemeClr>
              </a:gs>
              <a:gs pos="82000">
                <a:schemeClr val="accent5">
                  <a:alpha val="19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256CF5B-1DAD-4912-86B9-FCA733692F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704304">
            <a:off x="6080918" y="830588"/>
            <a:ext cx="4998441" cy="4998441"/>
          </a:xfrm>
          <a:prstGeom prst="ellipse">
            <a:avLst/>
          </a:prstGeom>
          <a:gradFill>
            <a:gsLst>
              <a:gs pos="39000">
                <a:schemeClr val="accent4">
                  <a:lumMod val="20000"/>
                  <a:lumOff val="80000"/>
                  <a:alpha val="0"/>
                </a:schemeClr>
              </a:gs>
              <a:gs pos="100000">
                <a:schemeClr val="accent6">
                  <a:alpha val="18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8E8447-84F7-D7C8-EA77-4A0475DFDFA0}"/>
              </a:ext>
            </a:extLst>
          </p:cNvPr>
          <p:cNvSpPr>
            <a:spLocks noGrp="1"/>
          </p:cNvSpPr>
          <p:nvPr>
            <p:ph type="ctrTitle"/>
          </p:nvPr>
        </p:nvSpPr>
        <p:spPr>
          <a:xfrm>
            <a:off x="5275425" y="768485"/>
            <a:ext cx="6133656" cy="3169674"/>
          </a:xfrm>
        </p:spPr>
        <p:txBody>
          <a:bodyPr>
            <a:normAutofit/>
          </a:bodyPr>
          <a:lstStyle/>
          <a:p>
            <a:pPr algn="r"/>
            <a:r>
              <a:rPr lang="en-US">
                <a:solidFill>
                  <a:schemeClr val="bg1"/>
                </a:solidFill>
              </a:rPr>
              <a:t>Security Controls in Shared Source Code Repositories</a:t>
            </a:r>
          </a:p>
        </p:txBody>
      </p:sp>
      <p:sp>
        <p:nvSpPr>
          <p:cNvPr id="3" name="Subtitle 2">
            <a:extLst>
              <a:ext uri="{FF2B5EF4-FFF2-40B4-BE49-F238E27FC236}">
                <a16:creationId xmlns:a16="http://schemas.microsoft.com/office/drawing/2014/main" id="{5F3D3464-DC9B-4950-46E6-D492B16F4E0A}"/>
              </a:ext>
            </a:extLst>
          </p:cNvPr>
          <p:cNvSpPr>
            <a:spLocks noGrp="1"/>
          </p:cNvSpPr>
          <p:nvPr>
            <p:ph type="subTitle" idx="1"/>
          </p:nvPr>
        </p:nvSpPr>
        <p:spPr>
          <a:xfrm>
            <a:off x="5862918" y="4793128"/>
            <a:ext cx="5462494" cy="1141157"/>
          </a:xfrm>
        </p:spPr>
        <p:txBody>
          <a:bodyPr>
            <a:normAutofit/>
          </a:bodyPr>
          <a:lstStyle/>
          <a:p>
            <a:pPr algn="r">
              <a:lnSpc>
                <a:spcPct val="140000"/>
              </a:lnSpc>
            </a:pPr>
            <a:r>
              <a:rPr lang="en-US" sz="1400" dirty="0">
                <a:solidFill>
                  <a:schemeClr val="bg1"/>
                </a:solidFill>
              </a:rPr>
              <a:t>Vanessa Espino</a:t>
            </a:r>
          </a:p>
          <a:p>
            <a:pPr algn="r">
              <a:lnSpc>
                <a:spcPct val="140000"/>
              </a:lnSpc>
            </a:pPr>
            <a:r>
              <a:rPr lang="en-US" sz="1400" dirty="0">
                <a:solidFill>
                  <a:schemeClr val="bg1"/>
                </a:solidFill>
              </a:rPr>
              <a:t>Module 10</a:t>
            </a:r>
          </a:p>
          <a:p>
            <a:pPr algn="r">
              <a:lnSpc>
                <a:spcPct val="140000"/>
              </a:lnSpc>
            </a:pPr>
            <a:r>
              <a:rPr lang="en-US" sz="1400" dirty="0">
                <a:solidFill>
                  <a:schemeClr val="bg1"/>
                </a:solidFill>
              </a:rPr>
              <a:t>CSD380</a:t>
            </a:r>
          </a:p>
        </p:txBody>
      </p:sp>
    </p:spTree>
    <p:extLst>
      <p:ext uri="{BB962C8B-B14F-4D97-AF65-F5344CB8AC3E}">
        <p14:creationId xmlns:p14="http://schemas.microsoft.com/office/powerpoint/2010/main" val="298028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E113-6D7D-5CF6-DD7A-F94443601E61}"/>
              </a:ext>
            </a:extLst>
          </p:cNvPr>
          <p:cNvSpPr>
            <a:spLocks noGrp="1"/>
          </p:cNvSpPr>
          <p:nvPr>
            <p:ph type="title"/>
          </p:nvPr>
        </p:nvSpPr>
        <p:spPr>
          <a:xfrm>
            <a:off x="1565564" y="379892"/>
            <a:ext cx="10241280" cy="1234440"/>
          </a:xfrm>
        </p:spPr>
        <p:txBody>
          <a:bodyPr/>
          <a:lstStyle/>
          <a:p>
            <a:r>
              <a:rPr lang="en-US" dirty="0"/>
              <a:t>code repository security</a:t>
            </a:r>
          </a:p>
        </p:txBody>
      </p:sp>
      <p:sp>
        <p:nvSpPr>
          <p:cNvPr id="3" name="Content Placeholder 2">
            <a:extLst>
              <a:ext uri="{FF2B5EF4-FFF2-40B4-BE49-F238E27FC236}">
                <a16:creationId xmlns:a16="http://schemas.microsoft.com/office/drawing/2014/main" id="{1E06FFBA-D6DE-C083-BB78-935F1FF30056}"/>
              </a:ext>
            </a:extLst>
          </p:cNvPr>
          <p:cNvSpPr>
            <a:spLocks noGrp="1"/>
          </p:cNvSpPr>
          <p:nvPr>
            <p:ph idx="1"/>
          </p:nvPr>
        </p:nvSpPr>
        <p:spPr>
          <a:xfrm>
            <a:off x="1052945" y="1828800"/>
            <a:ext cx="10559935" cy="4242816"/>
          </a:xfrm>
        </p:spPr>
        <p:txBody>
          <a:bodyPr>
            <a:normAutofit fontScale="92500" lnSpcReduction="10000"/>
          </a:bodyPr>
          <a:lstStyle/>
          <a:p>
            <a:r>
              <a:rPr lang="en-US" sz="2400" dirty="0">
                <a:cs typeface="Times New Roman" panose="02020603050405020304" pitchFamily="18" charset="0"/>
              </a:rPr>
              <a:t>In today’s fast-paced software development landscape, code repository security is no longer a luxury- it’s a foundational requirement.</a:t>
            </a:r>
          </a:p>
          <a:p>
            <a:r>
              <a:rPr lang="en-US" sz="2400" dirty="0">
                <a:cs typeface="Times New Roman" panose="02020603050405020304" pitchFamily="18" charset="0"/>
              </a:rPr>
              <a:t>While many organizations focus on application security at the later stages of development, an ever-growing number of threats exploit vulnerabilities in the repository itself.</a:t>
            </a:r>
          </a:p>
          <a:p>
            <a:r>
              <a:rPr lang="en-US" sz="2400" dirty="0">
                <a:cs typeface="Times New Roman" panose="02020603050405020304" pitchFamily="18" charset="0"/>
              </a:rPr>
              <a:t>Software supply chain attacks are on the rise and according to a 2022 study, supply chain attacks increases 633% compared to the previous year.</a:t>
            </a:r>
          </a:p>
          <a:p>
            <a:r>
              <a:rPr lang="en-US" sz="2400" dirty="0">
                <a:cs typeface="Times New Roman" panose="02020603050405020304" pitchFamily="18" charset="0"/>
              </a:rPr>
              <a:t>Implementing security measures can help keep your code secure in repositories like GitHub, GitLab and Azure, allowing you to collaborate with your team and share your code while keeping it safe from threats and unauthorized access. </a:t>
            </a:r>
          </a:p>
        </p:txBody>
      </p:sp>
    </p:spTree>
    <p:extLst>
      <p:ext uri="{BB962C8B-B14F-4D97-AF65-F5344CB8AC3E}">
        <p14:creationId xmlns:p14="http://schemas.microsoft.com/office/powerpoint/2010/main" val="3400783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5C86A-C2B5-56E8-87EC-43EC4A6D45D4}"/>
              </a:ext>
            </a:extLst>
          </p:cNvPr>
          <p:cNvSpPr>
            <a:spLocks noGrp="1"/>
          </p:cNvSpPr>
          <p:nvPr>
            <p:ph type="title"/>
          </p:nvPr>
        </p:nvSpPr>
        <p:spPr/>
        <p:txBody>
          <a:bodyPr/>
          <a:lstStyle/>
          <a:p>
            <a:r>
              <a:rPr lang="en-US" dirty="0"/>
              <a:t>Source code</a:t>
            </a:r>
          </a:p>
        </p:txBody>
      </p:sp>
      <p:sp>
        <p:nvSpPr>
          <p:cNvPr id="3" name="Content Placeholder 2">
            <a:extLst>
              <a:ext uri="{FF2B5EF4-FFF2-40B4-BE49-F238E27FC236}">
                <a16:creationId xmlns:a16="http://schemas.microsoft.com/office/drawing/2014/main" id="{D77B18C7-48E2-E3A9-D05F-2364847635EF}"/>
              </a:ext>
            </a:extLst>
          </p:cNvPr>
          <p:cNvSpPr>
            <a:spLocks noGrp="1"/>
          </p:cNvSpPr>
          <p:nvPr>
            <p:ph idx="1"/>
          </p:nvPr>
        </p:nvSpPr>
        <p:spPr/>
        <p:txBody>
          <a:bodyPr/>
          <a:lstStyle/>
          <a:p>
            <a:r>
              <a:rPr lang="en-US" sz="2400" dirty="0"/>
              <a:t>Source code security is the steps taken to protect the integrity and confidentiality of a software application’s source code. It’s critical because source code contains underlying logic and sensitive information, and a breach could lead to intellectual property theft, unauthorized access, and potential vulnerabilities in the software.</a:t>
            </a:r>
          </a:p>
          <a:p>
            <a:r>
              <a:rPr lang="en-US" sz="2400" dirty="0"/>
              <a:t>Keeping your source code secure helps safeguard it against data breaches, maintains user trust, and helps to prevent potential financial losses or reputational damage.</a:t>
            </a:r>
          </a:p>
          <a:p>
            <a:endParaRPr lang="en-US" dirty="0"/>
          </a:p>
        </p:txBody>
      </p:sp>
    </p:spTree>
    <p:extLst>
      <p:ext uri="{BB962C8B-B14F-4D97-AF65-F5344CB8AC3E}">
        <p14:creationId xmlns:p14="http://schemas.microsoft.com/office/powerpoint/2010/main" val="589688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A8B75-DE04-A3A7-93F6-F5D3B6276199}"/>
              </a:ext>
            </a:extLst>
          </p:cNvPr>
          <p:cNvSpPr>
            <a:spLocks noGrp="1"/>
          </p:cNvSpPr>
          <p:nvPr>
            <p:ph type="title"/>
          </p:nvPr>
        </p:nvSpPr>
        <p:spPr/>
        <p:txBody>
          <a:bodyPr/>
          <a:lstStyle/>
          <a:p>
            <a:r>
              <a:rPr lang="en-US" dirty="0"/>
              <a:t>Three main reasons why it’s critical</a:t>
            </a:r>
          </a:p>
        </p:txBody>
      </p:sp>
      <p:sp>
        <p:nvSpPr>
          <p:cNvPr id="3" name="Content Placeholder 2">
            <a:extLst>
              <a:ext uri="{FF2B5EF4-FFF2-40B4-BE49-F238E27FC236}">
                <a16:creationId xmlns:a16="http://schemas.microsoft.com/office/drawing/2014/main" id="{21615786-FBEC-E4CF-7486-5B800ACB33A3}"/>
              </a:ext>
            </a:extLst>
          </p:cNvPr>
          <p:cNvSpPr>
            <a:spLocks noGrp="1"/>
          </p:cNvSpPr>
          <p:nvPr>
            <p:ph idx="1"/>
          </p:nvPr>
        </p:nvSpPr>
        <p:spPr/>
        <p:txBody>
          <a:bodyPr>
            <a:normAutofit/>
          </a:bodyPr>
          <a:lstStyle/>
          <a:p>
            <a:r>
              <a:rPr lang="en-US" dirty="0"/>
              <a:t>It’s part of software supply chain: Ensuring your source code’s integrity and security is vital to maintaining a secure software supply chain, preventing unauthorized alterations or malicious code injections.</a:t>
            </a:r>
          </a:p>
          <a:p>
            <a:r>
              <a:rPr lang="en-US" dirty="0"/>
              <a:t>It prevents against malicious actors: Securing your source code safeguards it from being stolen or tampered with by malicious actors, reducing the risk of intellectual property theft and potential vulnerabilities.</a:t>
            </a:r>
          </a:p>
          <a:p>
            <a:r>
              <a:rPr lang="en-US" dirty="0"/>
              <a:t>It protects privacy and company secrets: Source code often contains sensitive information, including proprietary algorithms and business logic.  Proper security measures help to maintain the confidentiality of company secrets, preventing unauthorized access and data breaches. </a:t>
            </a:r>
          </a:p>
        </p:txBody>
      </p:sp>
    </p:spTree>
    <p:extLst>
      <p:ext uri="{BB962C8B-B14F-4D97-AF65-F5344CB8AC3E}">
        <p14:creationId xmlns:p14="http://schemas.microsoft.com/office/powerpoint/2010/main" val="1399230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B942-0FAA-A50F-7DC7-789F4FD7B92E}"/>
              </a:ext>
            </a:extLst>
          </p:cNvPr>
          <p:cNvSpPr>
            <a:spLocks noGrp="1"/>
          </p:cNvSpPr>
          <p:nvPr>
            <p:ph type="title"/>
          </p:nvPr>
        </p:nvSpPr>
        <p:spPr/>
        <p:txBody>
          <a:bodyPr/>
          <a:lstStyle/>
          <a:p>
            <a:r>
              <a:rPr lang="en-US" dirty="0"/>
              <a:t>Six source code security best practices</a:t>
            </a:r>
          </a:p>
        </p:txBody>
      </p:sp>
      <p:sp>
        <p:nvSpPr>
          <p:cNvPr id="3" name="Content Placeholder 2">
            <a:extLst>
              <a:ext uri="{FF2B5EF4-FFF2-40B4-BE49-F238E27FC236}">
                <a16:creationId xmlns:a16="http://schemas.microsoft.com/office/drawing/2014/main" id="{930E2A99-05ED-3D93-2E40-730EF86E9CE8}"/>
              </a:ext>
            </a:extLst>
          </p:cNvPr>
          <p:cNvSpPr>
            <a:spLocks noGrp="1"/>
          </p:cNvSpPr>
          <p:nvPr>
            <p:ph idx="1"/>
          </p:nvPr>
        </p:nvSpPr>
        <p:spPr/>
        <p:txBody>
          <a:bodyPr>
            <a:normAutofit lnSpcReduction="10000"/>
          </a:bodyPr>
          <a:lstStyle/>
          <a:p>
            <a:pPr marL="457200" indent="-457200">
              <a:buFont typeface="+mj-lt"/>
              <a:buAutoNum type="arabicPeriod"/>
            </a:pPr>
            <a:r>
              <a:rPr lang="en-US" sz="2400" dirty="0"/>
              <a:t>Secure identities and perimeter – implement robust authentication mechanisms, utilize RBAC, and regularly review and update user permissions.</a:t>
            </a:r>
          </a:p>
          <a:p>
            <a:pPr marL="457200" indent="-457200">
              <a:buFont typeface="+mj-lt"/>
              <a:buAutoNum type="arabicPeriod"/>
            </a:pPr>
            <a:r>
              <a:rPr lang="en-US" sz="2400" dirty="0"/>
              <a:t>Sign and authenticate code commits – enforce code signing for commits and verify the authenticity of commits using cryptographic.</a:t>
            </a:r>
          </a:p>
          <a:p>
            <a:pPr marL="457200" indent="-457200">
              <a:buFont typeface="+mj-lt"/>
              <a:buAutoNum type="arabicPeriod"/>
            </a:pPr>
            <a:r>
              <a:rPr lang="en-US" sz="2400" dirty="0"/>
              <a:t>Implement secret management best practices – avoid hardcoding sensitive information directly into the source code and use a secure secrets management system to store and manage sensitive data separately from the code.</a:t>
            </a:r>
          </a:p>
          <a:p>
            <a:pPr marL="457200" indent="-457200">
              <a:buFont typeface="+mj-lt"/>
              <a:buAutoNum type="arabicPeriod"/>
            </a:pPr>
            <a:endParaRPr lang="en-US" dirty="0"/>
          </a:p>
        </p:txBody>
      </p:sp>
    </p:spTree>
    <p:extLst>
      <p:ext uri="{BB962C8B-B14F-4D97-AF65-F5344CB8AC3E}">
        <p14:creationId xmlns:p14="http://schemas.microsoft.com/office/powerpoint/2010/main" val="610262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2EBB-D36A-C1BA-7C95-E3AA6B2FA097}"/>
              </a:ext>
            </a:extLst>
          </p:cNvPr>
          <p:cNvSpPr>
            <a:spLocks noGrp="1"/>
          </p:cNvSpPr>
          <p:nvPr>
            <p:ph type="title"/>
          </p:nvPr>
        </p:nvSpPr>
        <p:spPr/>
        <p:txBody>
          <a:bodyPr/>
          <a:lstStyle/>
          <a:p>
            <a:r>
              <a:rPr lang="en-US" dirty="0"/>
              <a:t>Six source code security best practices</a:t>
            </a:r>
          </a:p>
        </p:txBody>
      </p:sp>
      <p:sp>
        <p:nvSpPr>
          <p:cNvPr id="3" name="Content Placeholder 2">
            <a:extLst>
              <a:ext uri="{FF2B5EF4-FFF2-40B4-BE49-F238E27FC236}">
                <a16:creationId xmlns:a16="http://schemas.microsoft.com/office/drawing/2014/main" id="{899A5A98-E15B-6785-46AD-862B4DC80CAF}"/>
              </a:ext>
            </a:extLst>
          </p:cNvPr>
          <p:cNvSpPr>
            <a:spLocks noGrp="1"/>
          </p:cNvSpPr>
          <p:nvPr>
            <p:ph idx="1"/>
          </p:nvPr>
        </p:nvSpPr>
        <p:spPr/>
        <p:txBody>
          <a:bodyPr>
            <a:normAutofit fontScale="92500" lnSpcReduction="10000"/>
          </a:bodyPr>
          <a:lstStyle/>
          <a:p>
            <a:pPr marL="457200" indent="-457200">
              <a:buFont typeface="+mj-lt"/>
              <a:buAutoNum type="arabicPeriod" startAt="4"/>
            </a:pPr>
            <a:r>
              <a:rPr lang="en-US" sz="2400" dirty="0"/>
              <a:t>Establish a source code protection policy – define and enforce a clear source code security and access controls policy, and educate developers and team members about security best practices.</a:t>
            </a:r>
          </a:p>
          <a:p>
            <a:pPr marL="457200" indent="-457200">
              <a:buFont typeface="+mj-lt"/>
              <a:buAutoNum type="arabicPeriod" startAt="4"/>
            </a:pPr>
            <a:r>
              <a:rPr lang="en-US" sz="2400" dirty="0"/>
              <a:t>Monitor source code – use automated vulnerability scanning tools to monitor the source code for vulnerabilities continuously, and stay informed about the latest security advisories.</a:t>
            </a:r>
          </a:p>
          <a:p>
            <a:pPr marL="457200" indent="-457200">
              <a:buFont typeface="+mj-lt"/>
              <a:buAutoNum type="arabicPeriod" startAt="4"/>
            </a:pPr>
            <a:r>
              <a:rPr lang="en-US" sz="2400" dirty="0"/>
              <a:t>Prevent vulnerable code in production – implement code review processes to identify and fix security issues before code reaches production and ensure no one person can change the codebase without approvals on their requests.</a:t>
            </a:r>
          </a:p>
        </p:txBody>
      </p:sp>
    </p:spTree>
    <p:extLst>
      <p:ext uri="{BB962C8B-B14F-4D97-AF65-F5344CB8AC3E}">
        <p14:creationId xmlns:p14="http://schemas.microsoft.com/office/powerpoint/2010/main" val="814610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F265B-9C31-293E-06DE-5C7A47AD3256}"/>
              </a:ext>
            </a:extLst>
          </p:cNvPr>
          <p:cNvSpPr>
            <a:spLocks noGrp="1"/>
          </p:cNvSpPr>
          <p:nvPr>
            <p:ph type="title"/>
          </p:nvPr>
        </p:nvSpPr>
        <p:spPr/>
        <p:txBody>
          <a:bodyPr/>
          <a:lstStyle/>
          <a:p>
            <a:r>
              <a:rPr lang="en-US" dirty="0"/>
              <a:t>Best practices for securing code repositories</a:t>
            </a:r>
          </a:p>
        </p:txBody>
      </p:sp>
      <p:sp>
        <p:nvSpPr>
          <p:cNvPr id="3" name="Content Placeholder 2">
            <a:extLst>
              <a:ext uri="{FF2B5EF4-FFF2-40B4-BE49-F238E27FC236}">
                <a16:creationId xmlns:a16="http://schemas.microsoft.com/office/drawing/2014/main" id="{75D69F75-0DDF-3456-7913-F258A32929CE}"/>
              </a:ext>
            </a:extLst>
          </p:cNvPr>
          <p:cNvSpPr>
            <a:spLocks noGrp="1"/>
          </p:cNvSpPr>
          <p:nvPr>
            <p:ph idx="1"/>
          </p:nvPr>
        </p:nvSpPr>
        <p:spPr/>
        <p:txBody>
          <a:bodyPr/>
          <a:lstStyle/>
          <a:p>
            <a:r>
              <a:rPr lang="en-US" dirty="0"/>
              <a:t>Implement Role-Based Access Control (RBAC)</a:t>
            </a:r>
          </a:p>
          <a:p>
            <a:r>
              <a:rPr lang="en-US" dirty="0"/>
              <a:t>Enable Multi-Factor Authentication (MFA)</a:t>
            </a:r>
          </a:p>
          <a:p>
            <a:r>
              <a:rPr lang="en-US" dirty="0"/>
              <a:t>Use Secrets Management Tools</a:t>
            </a:r>
          </a:p>
          <a:p>
            <a:r>
              <a:rPr lang="en-US" dirty="0"/>
              <a:t>Conduct Regular Vulnerability Scanning</a:t>
            </a:r>
          </a:p>
          <a:p>
            <a:r>
              <a:rPr lang="en-US" dirty="0"/>
              <a:t>Enforce Code Signing</a:t>
            </a:r>
          </a:p>
          <a:p>
            <a:r>
              <a:rPr lang="en-US" dirty="0"/>
              <a:t>Monitor Repository Activity</a:t>
            </a:r>
          </a:p>
          <a:p>
            <a:r>
              <a:rPr lang="en-US" dirty="0"/>
              <a:t>Secure Open Source Dependencies such as Software Bill of Materials (SBOM) and SLSA attestations</a:t>
            </a:r>
          </a:p>
        </p:txBody>
      </p:sp>
    </p:spTree>
    <p:extLst>
      <p:ext uri="{BB962C8B-B14F-4D97-AF65-F5344CB8AC3E}">
        <p14:creationId xmlns:p14="http://schemas.microsoft.com/office/powerpoint/2010/main" val="3524603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D9881-30A8-21F4-6382-34F2B429898D}"/>
              </a:ext>
            </a:extLst>
          </p:cNvPr>
          <p:cNvSpPr>
            <a:spLocks noGrp="1"/>
          </p:cNvSpPr>
          <p:nvPr>
            <p:ph type="title"/>
          </p:nvPr>
        </p:nvSpPr>
        <p:spPr/>
        <p:txBody>
          <a:bodyPr/>
          <a:lstStyle/>
          <a:p>
            <a:r>
              <a:rPr lang="en-US" dirty="0"/>
              <a:t>Tools for securing code repositories</a:t>
            </a:r>
          </a:p>
        </p:txBody>
      </p:sp>
      <p:sp>
        <p:nvSpPr>
          <p:cNvPr id="3" name="Content Placeholder 2">
            <a:extLst>
              <a:ext uri="{FF2B5EF4-FFF2-40B4-BE49-F238E27FC236}">
                <a16:creationId xmlns:a16="http://schemas.microsoft.com/office/drawing/2014/main" id="{DFA27DF2-980F-0C2A-2CE2-5047533E4E31}"/>
              </a:ext>
            </a:extLst>
          </p:cNvPr>
          <p:cNvSpPr>
            <a:spLocks noGrp="1"/>
          </p:cNvSpPr>
          <p:nvPr>
            <p:ph idx="1"/>
          </p:nvPr>
        </p:nvSpPr>
        <p:spPr/>
        <p:txBody>
          <a:bodyPr>
            <a:normAutofit/>
          </a:bodyPr>
          <a:lstStyle/>
          <a:p>
            <a:r>
              <a:rPr lang="en-US" sz="2400" dirty="0"/>
              <a:t>Harness Code Repository</a:t>
            </a:r>
          </a:p>
          <a:p>
            <a:r>
              <a:rPr lang="en-US" sz="2400" dirty="0"/>
              <a:t>Gitleaks</a:t>
            </a:r>
          </a:p>
          <a:p>
            <a:r>
              <a:rPr lang="en-US" sz="2400" dirty="0"/>
              <a:t>SonarQube/</a:t>
            </a:r>
            <a:r>
              <a:rPr lang="en-US" sz="2400" dirty="0" err="1"/>
              <a:t>SonarCloud</a:t>
            </a:r>
            <a:endParaRPr lang="en-US" sz="2400" dirty="0"/>
          </a:p>
          <a:p>
            <a:r>
              <a:rPr lang="en-US" sz="2400" dirty="0" err="1"/>
              <a:t>Checkov</a:t>
            </a:r>
            <a:endParaRPr lang="en-US" sz="2400" dirty="0"/>
          </a:p>
          <a:p>
            <a:r>
              <a:rPr lang="en-US" sz="2400" dirty="0" err="1"/>
              <a:t>CodeQL</a:t>
            </a:r>
            <a:endParaRPr lang="en-US" sz="2400" dirty="0"/>
          </a:p>
        </p:txBody>
      </p:sp>
    </p:spTree>
    <p:extLst>
      <p:ext uri="{BB962C8B-B14F-4D97-AF65-F5344CB8AC3E}">
        <p14:creationId xmlns:p14="http://schemas.microsoft.com/office/powerpoint/2010/main" val="3578300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1E43-4F0B-66FD-947C-45CBC85AF62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4CE0A232-2EF8-6290-1278-ED51FBEE2AC3}"/>
              </a:ext>
            </a:extLst>
          </p:cNvPr>
          <p:cNvSpPr>
            <a:spLocks noGrp="1"/>
          </p:cNvSpPr>
          <p:nvPr>
            <p:ph idx="1"/>
          </p:nvPr>
        </p:nvSpPr>
        <p:spPr/>
        <p:txBody>
          <a:bodyPr/>
          <a:lstStyle/>
          <a:p>
            <a:r>
              <a:rPr lang="en-US" dirty="0"/>
              <a:t>Securing a code repository involves a multi-layered approach- combining robust authentication, automated scanning, and proactive monitoring. Implementing access controls, encrypting data, and adhering to compliance frameworks are vital steps to protect your organization’s intellectual property and maintain customer trust.</a:t>
            </a:r>
          </a:p>
          <a:p>
            <a:r>
              <a:rPr lang="en-US" dirty="0"/>
              <a:t>Securing code repositories is non-negotiable in today’s threat landscape. By implementing RBAC, MFA, secrets management, vulnerability scanning, and other best practices, organizations can safeguard their intellectual property and maintain trust with users.</a:t>
            </a:r>
          </a:p>
          <a:p>
            <a:r>
              <a:rPr lang="en-US" dirty="0"/>
              <a:t>There are a lot of tools and AI tools that are great at understanding vulnerabilities and recommending steps to remediate them.</a:t>
            </a:r>
          </a:p>
        </p:txBody>
      </p:sp>
    </p:spTree>
    <p:extLst>
      <p:ext uri="{BB962C8B-B14F-4D97-AF65-F5344CB8AC3E}">
        <p14:creationId xmlns:p14="http://schemas.microsoft.com/office/powerpoint/2010/main" val="1027640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24D30-D42D-E8D8-767F-3B79A9B5622F}"/>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02EF00E1-F68F-56DB-3350-2D20CABB539D}"/>
              </a:ext>
            </a:extLst>
          </p:cNvPr>
          <p:cNvSpPr>
            <a:spLocks noGrp="1"/>
          </p:cNvSpPr>
          <p:nvPr>
            <p:ph idx="1"/>
          </p:nvPr>
        </p:nvSpPr>
        <p:spPr/>
        <p:txBody>
          <a:bodyPr/>
          <a:lstStyle/>
          <a:p>
            <a:r>
              <a:rPr lang="en-US" dirty="0">
                <a:hlinkClick r:id="rId2"/>
              </a:rPr>
              <a:t>https://www.harness.io/harness-devops-academy/secure-code-repositories-best-practices</a:t>
            </a:r>
            <a:endParaRPr lang="en-US" dirty="0"/>
          </a:p>
          <a:p>
            <a:r>
              <a:rPr lang="en-US" dirty="0">
                <a:hlinkClick r:id="rId3"/>
              </a:rPr>
              <a:t>https://www.harness.io/harness-devops-academy/what-is-code-repository-security</a:t>
            </a:r>
            <a:endParaRPr lang="en-US" dirty="0"/>
          </a:p>
          <a:p>
            <a:r>
              <a:rPr lang="en-US" dirty="0">
                <a:hlinkClick r:id="rId4"/>
              </a:rPr>
              <a:t>https://get.assembla.com/blog/source-code-security/</a:t>
            </a:r>
            <a:endParaRPr lang="en-US" dirty="0"/>
          </a:p>
          <a:p>
            <a:r>
              <a:rPr lang="en-US" dirty="0">
                <a:hlinkClick r:id="rId5"/>
              </a:rPr>
              <a:t>https://snyk.io</a:t>
            </a:r>
            <a:r>
              <a:rPr lang="en-US">
                <a:hlinkClick r:id="rId5"/>
              </a:rPr>
              <a:t>/articles/securing-source-code-repositories/</a:t>
            </a:r>
            <a:r>
              <a:rPr lang="en-US"/>
              <a:t> </a:t>
            </a:r>
          </a:p>
        </p:txBody>
      </p:sp>
    </p:spTree>
    <p:extLst>
      <p:ext uri="{BB962C8B-B14F-4D97-AF65-F5344CB8AC3E}">
        <p14:creationId xmlns:p14="http://schemas.microsoft.com/office/powerpoint/2010/main" val="1560686374"/>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Madison</Template>
  <TotalTime>1458</TotalTime>
  <Words>713</Words>
  <Application>Microsoft Macintosh PowerPoint</Application>
  <PresentationFormat>Widescreen</PresentationFormat>
  <Paragraphs>47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Avenir Next LT Pro</vt:lpstr>
      <vt:lpstr>Times New Roman</vt:lpstr>
      <vt:lpstr>GradientRiseVTI</vt:lpstr>
      <vt:lpstr>Security Controls in Shared Source Code Repositories</vt:lpstr>
      <vt:lpstr>code repository security</vt:lpstr>
      <vt:lpstr>Source code</vt:lpstr>
      <vt:lpstr>Three main reasons why it’s critical</vt:lpstr>
      <vt:lpstr>Six source code security best practices</vt:lpstr>
      <vt:lpstr>Six source code security best practices</vt:lpstr>
      <vt:lpstr>Best practices for securing code repositories</vt:lpstr>
      <vt:lpstr>Tools for securing code repositories</vt:lpstr>
      <vt:lpstr>Summary</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Espino</dc:creator>
  <cp:lastModifiedBy>Vanessa Espino</cp:lastModifiedBy>
  <cp:revision>4</cp:revision>
  <dcterms:created xsi:type="dcterms:W3CDTF">2026-10-03T21:16:28Z</dcterms:created>
  <dcterms:modified xsi:type="dcterms:W3CDTF">2026-10-04T21:35:14Z</dcterms:modified>
</cp:coreProperties>
</file>